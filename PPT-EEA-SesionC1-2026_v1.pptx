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0" d="100"/>
          <a:sy n="160" d="100"/>
        </p:scale>
        <p:origin x="168"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68592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Antes de empezar: confirma que todos tienen ChatGPT y Gemini abiertos. Verifica que la configuración de instrucciones personalizadas de ChatGPT está activa. El Kahoot de repaso arranca a los 2 min de iniciada la sesión.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Comunica el plan de la sesión. No te extiendas más de 1 minuto aquí.
El bloque 05 tiene DOS momentos: 15 min con el brief ficticio (calentamiento) y 20 min con Drive (momento de impacto). El Momento 2 es el equivalente a la lectura del CSV de Grupo A — es lo que va a sorprender al equipo creativo.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KAHOOT — REPASO SESIÓN 0
Ritmo rápido, 10 preguntas de la sesión 0. Si alguien falla más de 5, toma nota del nombre para reforzar durante la práctica. No dejes que el bloque pase de 12 min.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HERRAMIENTAS
Demo en pantalla compartida: muestra la ruta de instrucciones personalizadas en ChatGPT (Configuración &gt; Personalización &gt; Instrucciones personalizadas). Espera a que todos lo abran antes de avanzar. Gemini no necesita configuración previa.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CONFIGURACIÓN CHATGPT
Di esto: 'Esta configuración le dice a ChatGPT quiénes somos antes de que escribamos el primer prompt. Sin esto, el output es genérico. Con esto, ya sabe que somos una academia de estética, que hablamos con esteticistas y cuál es nuestro tono.'
Espera confirmación de todos antes de continuar. Verifica en chat que al menos 3 personas digan que ya lo guardaron.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GENÉRICO VS SITUACIONAL
Ejecuta los dos prompts en vivo — primero en ChatGPT, luego en Gemini. No evalúes el output tú: pregunta al grupo '¿cuál usarían tal como está?' Esa pregunta activa el criterio de edición que trabajarán en el bloque 06.
Si el grupo responde rápido, pregunta además: '¿qué le cambiarían al prompt bueno para mejorarlo aún más?'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DE CAMPAÑA
Este es el equivalente al CSV de Grupo A: los datos reales que van dentro de los corchetes del prompt. Pide al grupo que abran el HTML o el documento y ubiquen esta tabla antes de que empiece la práctica. No avances hasta que todos lo tengan visible.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ESTRUCTURA DEL PROMPT
Este slide es teórico pero breve — máximo 3 min. El punto es que los participantes reconozcan estas 4 partes en los prompts de práctica que van a ver a continuación. Puedes preguntar: '¿Dónde ven cada parte en el prompt que acabo de ejecutar?'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SITUACIÓN C1A — TRÁFICO · MOMENTO 1 (brief ficticio)
Este es el calentamiento con datos estructurados. María y Paula reemplazan los corchetes con los datos del brief y ejecutan en ChatGPT y Gemini.
La tarea diferenciada de segunda vuelta activa el criterio de performance: piden al grupo que justifique qué copy tiene mejor CTR potencial y por qué.
El Momento 2 (Drive) viene en el slide siguiente: ahí pegan el copy de un anuncio real que ya está corriendo y piden las variaciones desde ese punto de partida.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SITUACIÓN C1B — CONTENIDO · MOMENTO 1 (brief ficticio)
Calentamiento con datos estructurados. Lina construye el banco de 10 captions desde el brief.
Pregunta al final: '¿Cuál de los 5 tonos faltaría en tu calendario editorial habitual?'
El Momento 2 (Drive) viene en el slide siguiente: Lina abre un documento de objetivos o resumen del mes anterior desde su Drive y la IA genera el plan de contenido del mes completo.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SITUACIÓN C1C — AUDIOVISUAL · MOMENTO 1 (brief ficticio)
Calentamiento con datos estructurados. Rosabelth genera el guión en tabla lista para producción.
Si el output viene sin tabla, pide segunda vuelta: 'Ahora preséntalo en tabla de 3 columnas: tiempo, texto y nota de producción.'
El Momento 2 (Drive) viene en el slide siguiente: Rosabelth abre el documento de instrucciones de edición desde la carpeta compartida con Gabriela y la IA genera la tabla de producción para ese video específico.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MOMENTO 2 — DRIVE · DEMO CENTRAL DE LA SESIÓN
Empieza TÚ con la demo: abre Claude con el MCP de Drive activo y lee un archivo real de la carpeta EEA. Muestra el output sin editar y pregunta al grupo: '¿Esto les ahorra tiempo esta semana?'
Luego cada persona intenta con sus propios archivos:
- María/Paula: copy de anuncio activo desde el sheet de campañas
- Lina: documento de objetivos o resumen del mes anterior
- Rosabelth: instrucciones de edición de la carpeta compartida con Gabriela
Si alguien no tiene archivo disponible en Drive, puede crear uno rápido en Google Docs con los datos del brief y usarlo como punto de partida.
Este bloque es el de mayor impacto de la sesión. No lo comprimas si el tiempo está ajustado — recorta en comparación (bloque 06) si es necesario.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COMPARACIÓN Y EDICIÓN
Pide a 2-3 voluntarios que compartan su pantalla y muestren los dos outputs. No des la respuesta: guía con las preguntas de la lista. El objetivo es que el grupo desarrolle criterio de edición, no que valides tú el output.
Si el tiempo está ajustado, prioriza la comparación de tráfico (C1A) porque conecta directamente con el testeo A/B de campañas.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Y COMPROMISO
Anota las respuestas de cada participante — las necesitas para el seguimiento en sesión C2.
Especialmente importante: qué tarea concreta va a ejecutar cada persona esta semana. En C2 revisas si lo hicieron y cómo resultó el output.
Kahoot de cierre: 10 preguntas sobre lo visto en C1. Puede jugarse en los últimos 10 min o dejarlo disponible como repaso en el HTML.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B3A"/>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201168"/>
          </a:xfrm>
          <a:prstGeom prst="rect">
            <a:avLst/>
          </a:prstGeom>
          <a:noFill/>
          <a:ln/>
        </p:spPr>
        <p:txBody>
          <a:bodyPr wrap="square" rtlCol="0" anchor="ctr"/>
          <a:lstStyle/>
          <a:p>
            <a:pPr marL="0" indent="0">
              <a:buNone/>
            </a:pPr>
            <a:r>
              <a:rPr lang="en-US" sz="900" b="1" kern="0" spc="200" dirty="0">
                <a:solidFill>
                  <a:srgbClr val="F5C842"/>
                </a:solidFill>
                <a:latin typeface="Calibri" pitchFamily="34" charset="0"/>
                <a:ea typeface="Calibri" pitchFamily="34" charset="-122"/>
                <a:cs typeface="Calibri" pitchFamily="34" charset="-120"/>
              </a:rPr>
              <a:t>VITAMINAS TECNOLÓGICAS · CAPACITACIÓN IA</a:t>
            </a:r>
            <a:endParaRPr lang="en-US" sz="900" dirty="0"/>
          </a:p>
        </p:txBody>
      </p:sp>
      <p:sp>
        <p:nvSpPr>
          <p:cNvPr id="3" name="Shape 1"/>
          <p:cNvSpPr/>
          <p:nvPr/>
        </p:nvSpPr>
        <p:spPr>
          <a:xfrm>
            <a:off x="457200" y="1417320"/>
            <a:ext cx="2011680" cy="36576"/>
          </a:xfrm>
          <a:prstGeom prst="rect">
            <a:avLst/>
          </a:prstGeom>
          <a:solidFill>
            <a:srgbClr val="F5C842"/>
          </a:solidFill>
          <a:ln/>
        </p:spPr>
        <p:txBody>
          <a:bodyPr/>
          <a:lstStyle/>
          <a:p>
            <a:endParaRPr lang="es-PE"/>
          </a:p>
        </p:txBody>
      </p:sp>
      <p:sp>
        <p:nvSpPr>
          <p:cNvPr id="4" name="Text 2"/>
          <p:cNvSpPr/>
          <p:nvPr/>
        </p:nvSpPr>
        <p:spPr>
          <a:xfrm>
            <a:off x="457200" y="1508760"/>
            <a:ext cx="8229600" cy="347472"/>
          </a:xfrm>
          <a:prstGeom prst="rect">
            <a:avLst/>
          </a:prstGeom>
          <a:noFill/>
          <a:ln/>
        </p:spPr>
        <p:txBody>
          <a:bodyPr wrap="square" rtlCol="0" anchor="ctr"/>
          <a:lstStyle/>
          <a:p>
            <a:pPr marL="0" indent="0">
              <a:buNone/>
            </a:pPr>
            <a:r>
              <a:rPr lang="en-US" sz="1600" dirty="0">
                <a:solidFill>
                  <a:srgbClr val="A0AACC"/>
                </a:solidFill>
                <a:latin typeface="Calibri" pitchFamily="34" charset="0"/>
                <a:ea typeface="Calibri" pitchFamily="34" charset="-122"/>
                <a:cs typeface="Calibri" pitchFamily="34" charset="-120"/>
              </a:rPr>
              <a:t>Taller de IA Aplicada al Trabajo</a:t>
            </a:r>
            <a:endParaRPr lang="en-US" sz="1600" dirty="0"/>
          </a:p>
        </p:txBody>
      </p:sp>
      <p:sp>
        <p:nvSpPr>
          <p:cNvPr id="5" name="Text 3"/>
          <p:cNvSpPr/>
          <p:nvPr/>
        </p:nvSpPr>
        <p:spPr>
          <a:xfrm>
            <a:off x="457200" y="1874520"/>
            <a:ext cx="8229600" cy="822960"/>
          </a:xfrm>
          <a:prstGeom prst="rect">
            <a:avLst/>
          </a:prstGeom>
          <a:noFill/>
          <a:ln/>
        </p:spPr>
        <p:txBody>
          <a:bodyPr wrap="square"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Sesión C1</a:t>
            </a:r>
            <a:endParaRPr lang="en-US" sz="5200" dirty="0"/>
          </a:p>
        </p:txBody>
      </p:sp>
      <p:sp>
        <p:nvSpPr>
          <p:cNvPr id="6" name="Text 4"/>
          <p:cNvSpPr/>
          <p:nvPr/>
        </p:nvSpPr>
        <p:spPr>
          <a:xfrm>
            <a:off x="457200" y="2697480"/>
            <a:ext cx="8229600" cy="438912"/>
          </a:xfrm>
          <a:prstGeom prst="rect">
            <a:avLst/>
          </a:prstGeom>
          <a:noFill/>
          <a:ln/>
        </p:spPr>
        <p:txBody>
          <a:bodyPr wrap="square" rtlCol="0" anchor="ctr"/>
          <a:lstStyle/>
          <a:p>
            <a:pPr marL="0" indent="0">
              <a:buNone/>
            </a:pPr>
            <a:r>
              <a:rPr lang="en-US" sz="2200" i="1" dirty="0">
                <a:solidFill>
                  <a:srgbClr val="F5C842"/>
                </a:solidFill>
                <a:latin typeface="Cambria" pitchFamily="34" charset="0"/>
                <a:ea typeface="Cambria" pitchFamily="34" charset="-122"/>
                <a:cs typeface="Cambria" pitchFamily="34" charset="-120"/>
              </a:rPr>
              <a:t>IA para Creación de Contenido</a:t>
            </a:r>
            <a:endParaRPr lang="en-US" sz="2200" dirty="0"/>
          </a:p>
        </p:txBody>
      </p:sp>
      <p:sp>
        <p:nvSpPr>
          <p:cNvPr id="7" name="Shape 5"/>
          <p:cNvSpPr/>
          <p:nvPr/>
        </p:nvSpPr>
        <p:spPr>
          <a:xfrm>
            <a:off x="457200" y="3291840"/>
            <a:ext cx="8229600" cy="0"/>
          </a:xfrm>
          <a:prstGeom prst="line">
            <a:avLst/>
          </a:prstGeom>
          <a:noFill/>
          <a:ln w="19050">
            <a:solidFill>
              <a:srgbClr val="1E2D6B"/>
            </a:solidFill>
            <a:prstDash val="solid"/>
          </a:ln>
        </p:spPr>
        <p:txBody>
          <a:bodyPr/>
          <a:lstStyle/>
          <a:p>
            <a:endParaRPr lang="es-PE"/>
          </a:p>
        </p:txBody>
      </p:sp>
      <p:sp>
        <p:nvSpPr>
          <p:cNvPr id="8" name="Text 6"/>
          <p:cNvSpPr/>
          <p:nvPr/>
        </p:nvSpPr>
        <p:spPr>
          <a:xfrm>
            <a:off x="457200" y="3401568"/>
            <a:ext cx="8229600" cy="256032"/>
          </a:xfrm>
          <a:prstGeom prst="rect">
            <a:avLst/>
          </a:prstGeom>
          <a:noFill/>
          <a:ln/>
        </p:spPr>
        <p:txBody>
          <a:bodyPr wrap="square" rtlCol="0" anchor="ctr"/>
          <a:lstStyle/>
          <a:p>
            <a:pPr marL="0" indent="0">
              <a:buNone/>
            </a:pPr>
            <a:r>
              <a:rPr lang="en-US" sz="1200" dirty="0">
                <a:solidFill>
                  <a:srgbClr val="A0AACC"/>
                </a:solidFill>
                <a:latin typeface="Calibri" pitchFamily="34" charset="0"/>
                <a:ea typeface="Calibri" pitchFamily="34" charset="-122"/>
                <a:cs typeface="Calibri" pitchFamily="34" charset="-120"/>
              </a:rPr>
              <a:t>Grupo C — Tráfico y Creativo  ·  </a:t>
            </a:r>
            <a:r>
              <a:rPr lang="en-US" sz="1200" dirty="0">
                <a:solidFill>
                  <a:srgbClr val="F5C842"/>
                </a:solidFill>
                <a:latin typeface="Calibri" pitchFamily="34" charset="0"/>
                <a:ea typeface="Calibri" pitchFamily="34" charset="-122"/>
                <a:cs typeface="Calibri" pitchFamily="34" charset="-120"/>
              </a:rPr>
              <a:t>4 participantes  ·  2 horas  ·  Virtual</a:t>
            </a:r>
            <a:endParaRPr lang="en-US" sz="1200" dirty="0"/>
          </a:p>
        </p:txBody>
      </p:sp>
      <p:sp>
        <p:nvSpPr>
          <p:cNvPr id="9" name="Text 7"/>
          <p:cNvSpPr/>
          <p:nvPr/>
        </p:nvSpPr>
        <p:spPr>
          <a:xfrm>
            <a:off x="457200" y="4709160"/>
            <a:ext cx="8229600" cy="201168"/>
          </a:xfrm>
          <a:prstGeom prst="rect">
            <a:avLst/>
          </a:prstGeom>
          <a:noFill/>
          <a:ln/>
        </p:spPr>
        <p:txBody>
          <a:bodyPr wrap="square" rtlCol="0" anchor="ctr"/>
          <a:lstStyle/>
          <a:p>
            <a:pPr marL="0" indent="0">
              <a:buNone/>
            </a:pPr>
            <a:r>
              <a:rPr lang="en-US" sz="900" dirty="0">
                <a:solidFill>
                  <a:srgbClr val="6A78A8"/>
                </a:solidFill>
                <a:latin typeface="Calibri" pitchFamily="34" charset="0"/>
                <a:ea typeface="Calibri" pitchFamily="34" charset="-122"/>
                <a:cs typeface="Calibri" pitchFamily="34" charset="-120"/>
              </a:rPr>
              <a:t>Liliana Bayona Castañeda  ·  Vitaminas Tecnológicas  ·  TEM-EEA-001-2026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201168"/>
          </a:xfrm>
          <a:prstGeom prst="rect">
            <a:avLst/>
          </a:prstGeom>
          <a:noFill/>
          <a:ln/>
        </p:spPr>
        <p:txBody>
          <a:bodyPr wrap="square" rtlCol="0" anchor="ctr"/>
          <a:lstStyle/>
          <a:p>
            <a:pPr marL="0" indent="0">
              <a:buNone/>
            </a:pPr>
            <a:r>
              <a:rPr lang="en-US" sz="900" b="1" kern="0" spc="200" dirty="0">
                <a:solidFill>
                  <a:srgbClr val="F5C842"/>
                </a:solidFill>
                <a:latin typeface="Calibri" pitchFamily="34" charset="0"/>
                <a:ea typeface="Calibri" pitchFamily="34" charset="-122"/>
                <a:cs typeface="Calibri" pitchFamily="34" charset="-120"/>
              </a:rPr>
              <a:t>VITAMINAS TECNOLÓGICAS · CAPACITACIÓN IA</a:t>
            </a:r>
            <a:endParaRPr lang="en-US" sz="900" dirty="0"/>
          </a:p>
        </p:txBody>
      </p:sp>
      <p:sp>
        <p:nvSpPr>
          <p:cNvPr id="3" name="Text 1"/>
          <p:cNvSpPr/>
          <p:nvPr/>
        </p:nvSpPr>
        <p:spPr>
          <a:xfrm>
            <a:off x="6400800" y="4846320"/>
            <a:ext cx="2560320" cy="182880"/>
          </a:xfrm>
          <a:prstGeom prst="rect">
            <a:avLst/>
          </a:prstGeom>
          <a:noFill/>
          <a:ln/>
        </p:spPr>
        <p:txBody>
          <a:bodyPr wrap="square" rtlCol="0" anchor="ctr"/>
          <a:lstStyle/>
          <a:p>
            <a:pPr marL="0" indent="0" algn="r">
              <a:buNone/>
            </a:pPr>
            <a:r>
              <a:rPr lang="en-US" sz="800" dirty="0">
                <a:solidFill>
                  <a:srgbClr val="8899BB"/>
                </a:solidFill>
                <a:latin typeface="Calibri" pitchFamily="34" charset="0"/>
                <a:ea typeface="Calibri" pitchFamily="34" charset="-122"/>
                <a:cs typeface="Calibri" pitchFamily="34" charset="-120"/>
              </a:rPr>
              <a:t>TEM-EEA-001-2026 · C1</a:t>
            </a:r>
            <a:endParaRPr lang="en-US" sz="800" dirty="0"/>
          </a:p>
        </p:txBody>
      </p:sp>
      <p:sp>
        <p:nvSpPr>
          <p:cNvPr id="4" name="Text 2"/>
          <p:cNvSpPr/>
          <p:nvPr/>
        </p:nvSpPr>
        <p:spPr>
          <a:xfrm>
            <a:off x="457200" y="411480"/>
            <a:ext cx="8229600" cy="475488"/>
          </a:xfrm>
          <a:prstGeom prst="rect">
            <a:avLst/>
          </a:prstGeom>
          <a:noFill/>
          <a:ln/>
        </p:spPr>
        <p:txBody>
          <a:bodyPr wrap="square" rtlCol="0" anchor="ctr"/>
          <a:lstStyle/>
          <a:p>
            <a:pPr marL="0" indent="0">
              <a:buNone/>
            </a:pPr>
            <a:r>
              <a:rPr lang="en-US" sz="2800" b="1" dirty="0">
                <a:solidFill>
                  <a:srgbClr val="121B3A"/>
                </a:solidFill>
                <a:latin typeface="Cambria" pitchFamily="34" charset="0"/>
                <a:ea typeface="Cambria" pitchFamily="34" charset="-122"/>
                <a:cs typeface="Cambria" pitchFamily="34" charset="-120"/>
              </a:rPr>
              <a:t>Agenda de la sesión</a:t>
            </a:r>
            <a:endParaRPr lang="en-US" sz="2800" dirty="0"/>
          </a:p>
        </p:txBody>
      </p:sp>
      <p:sp>
        <p:nvSpPr>
          <p:cNvPr id="5" name="Shape 3"/>
          <p:cNvSpPr/>
          <p:nvPr/>
        </p:nvSpPr>
        <p:spPr>
          <a:xfrm>
            <a:off x="365760" y="1005840"/>
            <a:ext cx="8412480" cy="438912"/>
          </a:xfrm>
          <a:prstGeom prst="roundRect">
            <a:avLst>
              <a:gd name="adj" fmla="val 8333"/>
            </a:avLst>
          </a:prstGeom>
          <a:solidFill>
            <a:srgbClr val="F7F7F9"/>
          </a:solidFill>
          <a:ln w="12700">
            <a:solidFill>
              <a:srgbClr val="E5E5EA"/>
            </a:solidFill>
            <a:prstDash val="solid"/>
          </a:ln>
        </p:spPr>
        <p:txBody>
          <a:bodyPr/>
          <a:lstStyle/>
          <a:p>
            <a:endParaRPr lang="es-PE"/>
          </a:p>
        </p:txBody>
      </p:sp>
      <p:sp>
        <p:nvSpPr>
          <p:cNvPr id="6" name="Shape 4"/>
          <p:cNvSpPr/>
          <p:nvPr/>
        </p:nvSpPr>
        <p:spPr>
          <a:xfrm>
            <a:off x="365760" y="1005840"/>
            <a:ext cx="640080" cy="438912"/>
          </a:xfrm>
          <a:prstGeom prst="roundRect">
            <a:avLst>
              <a:gd name="adj" fmla="val 8333"/>
            </a:avLst>
          </a:prstGeom>
          <a:solidFill>
            <a:srgbClr val="1E2D6B"/>
          </a:solidFill>
          <a:ln/>
        </p:spPr>
        <p:txBody>
          <a:bodyPr/>
          <a:lstStyle/>
          <a:p>
            <a:endParaRPr lang="es-PE"/>
          </a:p>
        </p:txBody>
      </p:sp>
      <p:sp>
        <p:nvSpPr>
          <p:cNvPr id="7" name="Text 5"/>
          <p:cNvSpPr/>
          <p:nvPr/>
        </p:nvSpPr>
        <p:spPr>
          <a:xfrm>
            <a:off x="365760" y="1060704"/>
            <a:ext cx="640080" cy="329184"/>
          </a:xfrm>
          <a:prstGeom prst="rect">
            <a:avLst/>
          </a:prstGeom>
          <a:noFill/>
          <a:ln/>
        </p:spPr>
        <p:txBody>
          <a:bodyPr wrap="square" lIns="0" tIns="0" rIns="0" bIns="0" rtlCol="0" anchor="ctr"/>
          <a:lstStyle/>
          <a:p>
            <a:pPr marL="0" indent="0" algn="ctr">
              <a:buNone/>
            </a:pPr>
            <a:r>
              <a:rPr lang="en-US" sz="1200" b="1" dirty="0">
                <a:solidFill>
                  <a:srgbClr val="F5C842"/>
                </a:solidFill>
                <a:latin typeface="Calibri" pitchFamily="34" charset="0"/>
                <a:ea typeface="Calibri" pitchFamily="34" charset="-122"/>
                <a:cs typeface="Calibri" pitchFamily="34" charset="-120"/>
              </a:rPr>
              <a:t>01</a:t>
            </a:r>
            <a:endParaRPr lang="en-US" sz="1200" dirty="0"/>
          </a:p>
        </p:txBody>
      </p:sp>
      <p:sp>
        <p:nvSpPr>
          <p:cNvPr id="8" name="Text 6"/>
          <p:cNvSpPr/>
          <p:nvPr/>
        </p:nvSpPr>
        <p:spPr>
          <a:xfrm>
            <a:off x="1060704" y="1097280"/>
            <a:ext cx="685800" cy="256032"/>
          </a:xfrm>
          <a:prstGeom prst="rect">
            <a:avLst/>
          </a:prstGeom>
          <a:noFill/>
          <a:ln/>
        </p:spPr>
        <p:txBody>
          <a:bodyPr wrap="square" rtlCol="0" anchor="ctr"/>
          <a:lstStyle/>
          <a:p>
            <a:pPr marL="0" indent="0">
              <a:buNone/>
            </a:pPr>
            <a:r>
              <a:rPr lang="en-US" sz="1000" dirty="0">
                <a:solidFill>
                  <a:srgbClr val="5A5F73"/>
                </a:solidFill>
                <a:latin typeface="Calibri" pitchFamily="34" charset="0"/>
                <a:ea typeface="Calibri" pitchFamily="34" charset="-122"/>
                <a:cs typeface="Calibri" pitchFamily="34" charset="-120"/>
              </a:rPr>
              <a:t>0:00</a:t>
            </a:r>
            <a:endParaRPr lang="en-US" sz="1000" dirty="0"/>
          </a:p>
        </p:txBody>
      </p:sp>
      <p:sp>
        <p:nvSpPr>
          <p:cNvPr id="9" name="Text 7"/>
          <p:cNvSpPr/>
          <p:nvPr/>
        </p:nvSpPr>
        <p:spPr>
          <a:xfrm>
            <a:off x="1792224" y="1097280"/>
            <a:ext cx="5577840" cy="256032"/>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Kahoot de repaso — Sesión 0</a:t>
            </a:r>
            <a:endParaRPr lang="en-US" sz="1200" dirty="0"/>
          </a:p>
        </p:txBody>
      </p:sp>
      <p:sp>
        <p:nvSpPr>
          <p:cNvPr id="10" name="Text 8"/>
          <p:cNvSpPr/>
          <p:nvPr/>
        </p:nvSpPr>
        <p:spPr>
          <a:xfrm>
            <a:off x="7589520" y="1097280"/>
            <a:ext cx="1005840" cy="256032"/>
          </a:xfrm>
          <a:prstGeom prst="rect">
            <a:avLst/>
          </a:prstGeom>
          <a:noFill/>
          <a:ln/>
        </p:spPr>
        <p:txBody>
          <a:bodyPr wrap="square" rtlCol="0" anchor="ctr"/>
          <a:lstStyle/>
          <a:p>
            <a:pPr marL="0" indent="0" algn="r">
              <a:buNone/>
            </a:pPr>
            <a:r>
              <a:rPr lang="en-US" sz="1000" b="1" dirty="0">
                <a:solidFill>
                  <a:srgbClr val="F5C842"/>
                </a:solidFill>
                <a:latin typeface="Calibri" pitchFamily="34" charset="0"/>
                <a:ea typeface="Calibri" pitchFamily="34" charset="-122"/>
                <a:cs typeface="Calibri" pitchFamily="34" charset="-120"/>
              </a:rPr>
              <a:t>10 min</a:t>
            </a:r>
            <a:endParaRPr lang="en-US" sz="1000" dirty="0"/>
          </a:p>
        </p:txBody>
      </p:sp>
      <p:sp>
        <p:nvSpPr>
          <p:cNvPr id="11" name="Shape 9"/>
          <p:cNvSpPr/>
          <p:nvPr/>
        </p:nvSpPr>
        <p:spPr>
          <a:xfrm>
            <a:off x="365760" y="1517904"/>
            <a:ext cx="8412480" cy="438912"/>
          </a:xfrm>
          <a:prstGeom prst="roundRect">
            <a:avLst>
              <a:gd name="adj" fmla="val 8333"/>
            </a:avLst>
          </a:prstGeom>
          <a:solidFill>
            <a:srgbClr val="FFFFFF"/>
          </a:solidFill>
          <a:ln w="12700">
            <a:solidFill>
              <a:srgbClr val="E5E5EA"/>
            </a:solidFill>
            <a:prstDash val="solid"/>
          </a:ln>
        </p:spPr>
        <p:txBody>
          <a:bodyPr/>
          <a:lstStyle/>
          <a:p>
            <a:endParaRPr lang="es-PE"/>
          </a:p>
        </p:txBody>
      </p:sp>
      <p:sp>
        <p:nvSpPr>
          <p:cNvPr id="12" name="Shape 10"/>
          <p:cNvSpPr/>
          <p:nvPr/>
        </p:nvSpPr>
        <p:spPr>
          <a:xfrm>
            <a:off x="365760" y="1517904"/>
            <a:ext cx="640080" cy="438912"/>
          </a:xfrm>
          <a:prstGeom prst="roundRect">
            <a:avLst>
              <a:gd name="adj" fmla="val 8333"/>
            </a:avLst>
          </a:prstGeom>
          <a:solidFill>
            <a:srgbClr val="1E2D6B"/>
          </a:solidFill>
          <a:ln/>
        </p:spPr>
        <p:txBody>
          <a:bodyPr/>
          <a:lstStyle/>
          <a:p>
            <a:endParaRPr lang="es-PE"/>
          </a:p>
        </p:txBody>
      </p:sp>
      <p:sp>
        <p:nvSpPr>
          <p:cNvPr id="13" name="Text 11"/>
          <p:cNvSpPr/>
          <p:nvPr/>
        </p:nvSpPr>
        <p:spPr>
          <a:xfrm>
            <a:off x="365760" y="1572768"/>
            <a:ext cx="640080" cy="329184"/>
          </a:xfrm>
          <a:prstGeom prst="rect">
            <a:avLst/>
          </a:prstGeom>
          <a:noFill/>
          <a:ln/>
        </p:spPr>
        <p:txBody>
          <a:bodyPr wrap="square" lIns="0" tIns="0" rIns="0" bIns="0" rtlCol="0" anchor="ctr"/>
          <a:lstStyle/>
          <a:p>
            <a:pPr marL="0" indent="0" algn="ctr">
              <a:buNone/>
            </a:pPr>
            <a:r>
              <a:rPr lang="en-US" sz="1200" b="1" dirty="0">
                <a:solidFill>
                  <a:srgbClr val="F5C842"/>
                </a:solidFill>
                <a:latin typeface="Calibri" pitchFamily="34" charset="0"/>
                <a:ea typeface="Calibri" pitchFamily="34" charset="-122"/>
                <a:cs typeface="Calibri" pitchFamily="34" charset="-120"/>
              </a:rPr>
              <a:t>02</a:t>
            </a:r>
            <a:endParaRPr lang="en-US" sz="1200" dirty="0"/>
          </a:p>
        </p:txBody>
      </p:sp>
      <p:sp>
        <p:nvSpPr>
          <p:cNvPr id="14" name="Text 12"/>
          <p:cNvSpPr/>
          <p:nvPr/>
        </p:nvSpPr>
        <p:spPr>
          <a:xfrm>
            <a:off x="1060704" y="1609344"/>
            <a:ext cx="685800" cy="256032"/>
          </a:xfrm>
          <a:prstGeom prst="rect">
            <a:avLst/>
          </a:prstGeom>
          <a:noFill/>
          <a:ln/>
        </p:spPr>
        <p:txBody>
          <a:bodyPr wrap="square" rtlCol="0" anchor="ctr"/>
          <a:lstStyle/>
          <a:p>
            <a:pPr marL="0" indent="0">
              <a:buNone/>
            </a:pPr>
            <a:r>
              <a:rPr lang="en-US" sz="1000" dirty="0">
                <a:solidFill>
                  <a:srgbClr val="5A5F73"/>
                </a:solidFill>
                <a:latin typeface="Calibri" pitchFamily="34" charset="0"/>
                <a:ea typeface="Calibri" pitchFamily="34" charset="-122"/>
                <a:cs typeface="Calibri" pitchFamily="34" charset="-120"/>
              </a:rPr>
              <a:t>0:10</a:t>
            </a:r>
            <a:endParaRPr lang="en-US" sz="1000" dirty="0"/>
          </a:p>
        </p:txBody>
      </p:sp>
      <p:sp>
        <p:nvSpPr>
          <p:cNvPr id="15" name="Text 13"/>
          <p:cNvSpPr/>
          <p:nvPr/>
        </p:nvSpPr>
        <p:spPr>
          <a:xfrm>
            <a:off x="1792224" y="1609344"/>
            <a:ext cx="5577840" cy="256032"/>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Configuración de herramientas — ChatGPT y Gemini</a:t>
            </a:r>
            <a:endParaRPr lang="en-US" sz="1200" dirty="0"/>
          </a:p>
        </p:txBody>
      </p:sp>
      <p:sp>
        <p:nvSpPr>
          <p:cNvPr id="16" name="Text 14"/>
          <p:cNvSpPr/>
          <p:nvPr/>
        </p:nvSpPr>
        <p:spPr>
          <a:xfrm>
            <a:off x="7589520" y="1609344"/>
            <a:ext cx="1005840" cy="256032"/>
          </a:xfrm>
          <a:prstGeom prst="rect">
            <a:avLst/>
          </a:prstGeom>
          <a:noFill/>
          <a:ln/>
        </p:spPr>
        <p:txBody>
          <a:bodyPr wrap="square" rtlCol="0" anchor="ctr"/>
          <a:lstStyle/>
          <a:p>
            <a:pPr marL="0" indent="0" algn="r">
              <a:buNone/>
            </a:pPr>
            <a:r>
              <a:rPr lang="en-US" sz="1000" b="1" dirty="0">
                <a:solidFill>
                  <a:srgbClr val="F5C842"/>
                </a:solidFill>
                <a:latin typeface="Calibri" pitchFamily="34" charset="0"/>
                <a:ea typeface="Calibri" pitchFamily="34" charset="-122"/>
                <a:cs typeface="Calibri" pitchFamily="34" charset="-120"/>
              </a:rPr>
              <a:t>15 min</a:t>
            </a:r>
            <a:endParaRPr lang="en-US" sz="1000" dirty="0"/>
          </a:p>
        </p:txBody>
      </p:sp>
      <p:sp>
        <p:nvSpPr>
          <p:cNvPr id="17" name="Shape 15"/>
          <p:cNvSpPr/>
          <p:nvPr/>
        </p:nvSpPr>
        <p:spPr>
          <a:xfrm>
            <a:off x="365760" y="2029968"/>
            <a:ext cx="8412480" cy="438912"/>
          </a:xfrm>
          <a:prstGeom prst="roundRect">
            <a:avLst>
              <a:gd name="adj" fmla="val 8333"/>
            </a:avLst>
          </a:prstGeom>
          <a:solidFill>
            <a:srgbClr val="F7F7F9"/>
          </a:solidFill>
          <a:ln w="12700">
            <a:solidFill>
              <a:srgbClr val="E5E5EA"/>
            </a:solidFill>
            <a:prstDash val="solid"/>
          </a:ln>
        </p:spPr>
        <p:txBody>
          <a:bodyPr/>
          <a:lstStyle/>
          <a:p>
            <a:endParaRPr lang="es-PE"/>
          </a:p>
        </p:txBody>
      </p:sp>
      <p:sp>
        <p:nvSpPr>
          <p:cNvPr id="18" name="Shape 16"/>
          <p:cNvSpPr/>
          <p:nvPr/>
        </p:nvSpPr>
        <p:spPr>
          <a:xfrm>
            <a:off x="365760" y="2029968"/>
            <a:ext cx="640080" cy="438912"/>
          </a:xfrm>
          <a:prstGeom prst="roundRect">
            <a:avLst>
              <a:gd name="adj" fmla="val 8333"/>
            </a:avLst>
          </a:prstGeom>
          <a:solidFill>
            <a:srgbClr val="1E2D6B"/>
          </a:solidFill>
          <a:ln/>
        </p:spPr>
        <p:txBody>
          <a:bodyPr/>
          <a:lstStyle/>
          <a:p>
            <a:endParaRPr lang="es-PE"/>
          </a:p>
        </p:txBody>
      </p:sp>
      <p:sp>
        <p:nvSpPr>
          <p:cNvPr id="19" name="Text 17"/>
          <p:cNvSpPr/>
          <p:nvPr/>
        </p:nvSpPr>
        <p:spPr>
          <a:xfrm>
            <a:off x="365760" y="2084832"/>
            <a:ext cx="640080" cy="329184"/>
          </a:xfrm>
          <a:prstGeom prst="rect">
            <a:avLst/>
          </a:prstGeom>
          <a:noFill/>
          <a:ln/>
        </p:spPr>
        <p:txBody>
          <a:bodyPr wrap="square" lIns="0" tIns="0" rIns="0" bIns="0" rtlCol="0" anchor="ctr"/>
          <a:lstStyle/>
          <a:p>
            <a:pPr marL="0" indent="0" algn="ctr">
              <a:buNone/>
            </a:pPr>
            <a:r>
              <a:rPr lang="en-US" sz="1200" b="1" dirty="0">
                <a:solidFill>
                  <a:srgbClr val="F5C842"/>
                </a:solidFill>
                <a:latin typeface="Calibri" pitchFamily="34" charset="0"/>
                <a:ea typeface="Calibri" pitchFamily="34" charset="-122"/>
                <a:cs typeface="Calibri" pitchFamily="34" charset="-120"/>
              </a:rPr>
              <a:t>03</a:t>
            </a:r>
            <a:endParaRPr lang="en-US" sz="1200" dirty="0"/>
          </a:p>
        </p:txBody>
      </p:sp>
      <p:sp>
        <p:nvSpPr>
          <p:cNvPr id="20" name="Text 18"/>
          <p:cNvSpPr/>
          <p:nvPr/>
        </p:nvSpPr>
        <p:spPr>
          <a:xfrm>
            <a:off x="1060704" y="2121408"/>
            <a:ext cx="685800" cy="256032"/>
          </a:xfrm>
          <a:prstGeom prst="rect">
            <a:avLst/>
          </a:prstGeom>
          <a:noFill/>
          <a:ln/>
        </p:spPr>
        <p:txBody>
          <a:bodyPr wrap="square" rtlCol="0" anchor="ctr"/>
          <a:lstStyle/>
          <a:p>
            <a:pPr marL="0" indent="0">
              <a:buNone/>
            </a:pPr>
            <a:r>
              <a:rPr lang="en-US" sz="1000" dirty="0">
                <a:solidFill>
                  <a:srgbClr val="5A5F73"/>
                </a:solidFill>
                <a:latin typeface="Calibri" pitchFamily="34" charset="0"/>
                <a:ea typeface="Calibri" pitchFamily="34" charset="-122"/>
                <a:cs typeface="Calibri" pitchFamily="34" charset="-120"/>
              </a:rPr>
              <a:t>0:25</a:t>
            </a:r>
            <a:endParaRPr lang="en-US" sz="1000" dirty="0"/>
          </a:p>
        </p:txBody>
      </p:sp>
      <p:sp>
        <p:nvSpPr>
          <p:cNvPr id="21" name="Text 19"/>
          <p:cNvSpPr/>
          <p:nvPr/>
        </p:nvSpPr>
        <p:spPr>
          <a:xfrm>
            <a:off x="1792224" y="2121408"/>
            <a:ext cx="5577840" cy="256032"/>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Prompt genérico vs. situacional — demo en vivo</a:t>
            </a:r>
            <a:endParaRPr lang="en-US" sz="1200" dirty="0"/>
          </a:p>
        </p:txBody>
      </p:sp>
      <p:sp>
        <p:nvSpPr>
          <p:cNvPr id="22" name="Text 20"/>
          <p:cNvSpPr/>
          <p:nvPr/>
        </p:nvSpPr>
        <p:spPr>
          <a:xfrm>
            <a:off x="7589520" y="2121408"/>
            <a:ext cx="1005840" cy="256032"/>
          </a:xfrm>
          <a:prstGeom prst="rect">
            <a:avLst/>
          </a:prstGeom>
          <a:noFill/>
          <a:ln/>
        </p:spPr>
        <p:txBody>
          <a:bodyPr wrap="square" rtlCol="0" anchor="ctr"/>
          <a:lstStyle/>
          <a:p>
            <a:pPr marL="0" indent="0" algn="r">
              <a:buNone/>
            </a:pPr>
            <a:r>
              <a:rPr lang="en-US" sz="1000" b="1" dirty="0">
                <a:solidFill>
                  <a:srgbClr val="F5C842"/>
                </a:solidFill>
                <a:latin typeface="Calibri" pitchFamily="34" charset="0"/>
                <a:ea typeface="Calibri" pitchFamily="34" charset="-122"/>
                <a:cs typeface="Calibri" pitchFamily="34" charset="-120"/>
              </a:rPr>
              <a:t>10 min</a:t>
            </a:r>
            <a:endParaRPr lang="en-US" sz="1000" dirty="0"/>
          </a:p>
        </p:txBody>
      </p:sp>
      <p:sp>
        <p:nvSpPr>
          <p:cNvPr id="23" name="Shape 21"/>
          <p:cNvSpPr/>
          <p:nvPr/>
        </p:nvSpPr>
        <p:spPr>
          <a:xfrm>
            <a:off x="365760" y="2542032"/>
            <a:ext cx="8412480" cy="438912"/>
          </a:xfrm>
          <a:prstGeom prst="roundRect">
            <a:avLst>
              <a:gd name="adj" fmla="val 8333"/>
            </a:avLst>
          </a:prstGeom>
          <a:solidFill>
            <a:srgbClr val="FFFFFF"/>
          </a:solidFill>
          <a:ln w="12700">
            <a:solidFill>
              <a:srgbClr val="E5E5EA"/>
            </a:solidFill>
            <a:prstDash val="solid"/>
          </a:ln>
        </p:spPr>
        <p:txBody>
          <a:bodyPr/>
          <a:lstStyle/>
          <a:p>
            <a:endParaRPr lang="es-PE"/>
          </a:p>
        </p:txBody>
      </p:sp>
      <p:sp>
        <p:nvSpPr>
          <p:cNvPr id="24" name="Shape 22"/>
          <p:cNvSpPr/>
          <p:nvPr/>
        </p:nvSpPr>
        <p:spPr>
          <a:xfrm>
            <a:off x="365760" y="2542032"/>
            <a:ext cx="640080" cy="438912"/>
          </a:xfrm>
          <a:prstGeom prst="roundRect">
            <a:avLst>
              <a:gd name="adj" fmla="val 8333"/>
            </a:avLst>
          </a:prstGeom>
          <a:solidFill>
            <a:srgbClr val="1E2D6B"/>
          </a:solidFill>
          <a:ln/>
        </p:spPr>
        <p:txBody>
          <a:bodyPr/>
          <a:lstStyle/>
          <a:p>
            <a:endParaRPr lang="es-PE"/>
          </a:p>
        </p:txBody>
      </p:sp>
      <p:sp>
        <p:nvSpPr>
          <p:cNvPr id="25" name="Text 23"/>
          <p:cNvSpPr/>
          <p:nvPr/>
        </p:nvSpPr>
        <p:spPr>
          <a:xfrm>
            <a:off x="365760" y="2596896"/>
            <a:ext cx="640080" cy="329184"/>
          </a:xfrm>
          <a:prstGeom prst="rect">
            <a:avLst/>
          </a:prstGeom>
          <a:noFill/>
          <a:ln/>
        </p:spPr>
        <p:txBody>
          <a:bodyPr wrap="square" lIns="0" tIns="0" rIns="0" bIns="0" rtlCol="0" anchor="ctr"/>
          <a:lstStyle/>
          <a:p>
            <a:pPr marL="0" indent="0" algn="ctr">
              <a:buNone/>
            </a:pPr>
            <a:r>
              <a:rPr lang="en-US" sz="1200" b="1" dirty="0">
                <a:solidFill>
                  <a:srgbClr val="F5C842"/>
                </a:solidFill>
                <a:latin typeface="Calibri" pitchFamily="34" charset="0"/>
                <a:ea typeface="Calibri" pitchFamily="34" charset="-122"/>
                <a:cs typeface="Calibri" pitchFamily="34" charset="-120"/>
              </a:rPr>
              <a:t>04</a:t>
            </a:r>
            <a:endParaRPr lang="en-US" sz="1200" dirty="0"/>
          </a:p>
        </p:txBody>
      </p:sp>
      <p:sp>
        <p:nvSpPr>
          <p:cNvPr id="26" name="Text 24"/>
          <p:cNvSpPr/>
          <p:nvPr/>
        </p:nvSpPr>
        <p:spPr>
          <a:xfrm>
            <a:off x="1060704" y="2633472"/>
            <a:ext cx="685800" cy="256032"/>
          </a:xfrm>
          <a:prstGeom prst="rect">
            <a:avLst/>
          </a:prstGeom>
          <a:noFill/>
          <a:ln/>
        </p:spPr>
        <p:txBody>
          <a:bodyPr wrap="square" rtlCol="0" anchor="ctr"/>
          <a:lstStyle/>
          <a:p>
            <a:pPr marL="0" indent="0">
              <a:buNone/>
            </a:pPr>
            <a:r>
              <a:rPr lang="en-US" sz="1000" dirty="0">
                <a:solidFill>
                  <a:srgbClr val="5A5F73"/>
                </a:solidFill>
                <a:latin typeface="Calibri" pitchFamily="34" charset="0"/>
                <a:ea typeface="Calibri" pitchFamily="34" charset="-122"/>
                <a:cs typeface="Calibri" pitchFamily="34" charset="-120"/>
              </a:rPr>
              <a:t>0:35</a:t>
            </a:r>
            <a:endParaRPr lang="en-US" sz="1000" dirty="0"/>
          </a:p>
        </p:txBody>
      </p:sp>
      <p:sp>
        <p:nvSpPr>
          <p:cNvPr id="27" name="Text 25"/>
          <p:cNvSpPr/>
          <p:nvPr/>
        </p:nvSpPr>
        <p:spPr>
          <a:xfrm>
            <a:off x="1792224" y="2633472"/>
            <a:ext cx="5577840" cy="256032"/>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Brief de campaña — datos de práctica + qué es un brief</a:t>
            </a:r>
            <a:endParaRPr lang="en-US" sz="1200" dirty="0"/>
          </a:p>
        </p:txBody>
      </p:sp>
      <p:sp>
        <p:nvSpPr>
          <p:cNvPr id="28" name="Text 26"/>
          <p:cNvSpPr/>
          <p:nvPr/>
        </p:nvSpPr>
        <p:spPr>
          <a:xfrm>
            <a:off x="7589520" y="2633472"/>
            <a:ext cx="1005840" cy="256032"/>
          </a:xfrm>
          <a:prstGeom prst="rect">
            <a:avLst/>
          </a:prstGeom>
          <a:noFill/>
          <a:ln/>
        </p:spPr>
        <p:txBody>
          <a:bodyPr wrap="square" rtlCol="0" anchor="ctr"/>
          <a:lstStyle/>
          <a:p>
            <a:pPr marL="0" indent="0" algn="r">
              <a:buNone/>
            </a:pPr>
            <a:r>
              <a:rPr lang="en-US" sz="1000" b="1" dirty="0">
                <a:solidFill>
                  <a:srgbClr val="F5C842"/>
                </a:solidFill>
                <a:latin typeface="Calibri" pitchFamily="34" charset="0"/>
                <a:ea typeface="Calibri" pitchFamily="34" charset="-122"/>
                <a:cs typeface="Calibri" pitchFamily="34" charset="-120"/>
              </a:rPr>
              <a:t>5 min</a:t>
            </a:r>
            <a:endParaRPr lang="en-US" sz="1000" dirty="0"/>
          </a:p>
        </p:txBody>
      </p:sp>
      <p:sp>
        <p:nvSpPr>
          <p:cNvPr id="29" name="Shape 27"/>
          <p:cNvSpPr/>
          <p:nvPr/>
        </p:nvSpPr>
        <p:spPr>
          <a:xfrm>
            <a:off x="365760" y="3054096"/>
            <a:ext cx="8412480" cy="438912"/>
          </a:xfrm>
          <a:prstGeom prst="roundRect">
            <a:avLst>
              <a:gd name="adj" fmla="val 8333"/>
            </a:avLst>
          </a:prstGeom>
          <a:solidFill>
            <a:srgbClr val="F7F7F9"/>
          </a:solidFill>
          <a:ln w="12700">
            <a:solidFill>
              <a:srgbClr val="E5E5EA"/>
            </a:solidFill>
            <a:prstDash val="solid"/>
          </a:ln>
        </p:spPr>
        <p:txBody>
          <a:bodyPr/>
          <a:lstStyle/>
          <a:p>
            <a:endParaRPr lang="es-PE"/>
          </a:p>
        </p:txBody>
      </p:sp>
      <p:sp>
        <p:nvSpPr>
          <p:cNvPr id="30" name="Shape 28"/>
          <p:cNvSpPr/>
          <p:nvPr/>
        </p:nvSpPr>
        <p:spPr>
          <a:xfrm>
            <a:off x="365760" y="3054096"/>
            <a:ext cx="640080" cy="438912"/>
          </a:xfrm>
          <a:prstGeom prst="roundRect">
            <a:avLst>
              <a:gd name="adj" fmla="val 8333"/>
            </a:avLst>
          </a:prstGeom>
          <a:solidFill>
            <a:srgbClr val="1E2D6B"/>
          </a:solidFill>
          <a:ln/>
        </p:spPr>
        <p:txBody>
          <a:bodyPr/>
          <a:lstStyle/>
          <a:p>
            <a:endParaRPr lang="es-PE"/>
          </a:p>
        </p:txBody>
      </p:sp>
      <p:sp>
        <p:nvSpPr>
          <p:cNvPr id="31" name="Text 29"/>
          <p:cNvSpPr/>
          <p:nvPr/>
        </p:nvSpPr>
        <p:spPr>
          <a:xfrm>
            <a:off x="365760" y="3108960"/>
            <a:ext cx="640080" cy="329184"/>
          </a:xfrm>
          <a:prstGeom prst="rect">
            <a:avLst/>
          </a:prstGeom>
          <a:noFill/>
          <a:ln/>
        </p:spPr>
        <p:txBody>
          <a:bodyPr wrap="square" lIns="0" tIns="0" rIns="0" bIns="0" rtlCol="0" anchor="ctr"/>
          <a:lstStyle/>
          <a:p>
            <a:pPr marL="0" indent="0" algn="ctr">
              <a:buNone/>
            </a:pPr>
            <a:r>
              <a:rPr lang="en-US" sz="1200" b="1" dirty="0">
                <a:solidFill>
                  <a:srgbClr val="F5C842"/>
                </a:solidFill>
                <a:latin typeface="Calibri" pitchFamily="34" charset="0"/>
                <a:ea typeface="Calibri" pitchFamily="34" charset="-122"/>
                <a:cs typeface="Calibri" pitchFamily="34" charset="-120"/>
              </a:rPr>
              <a:t>05</a:t>
            </a:r>
            <a:endParaRPr lang="en-US" sz="1200" dirty="0"/>
          </a:p>
        </p:txBody>
      </p:sp>
      <p:sp>
        <p:nvSpPr>
          <p:cNvPr id="32" name="Text 30"/>
          <p:cNvSpPr/>
          <p:nvPr/>
        </p:nvSpPr>
        <p:spPr>
          <a:xfrm>
            <a:off x="1060704" y="3145536"/>
            <a:ext cx="685800" cy="256032"/>
          </a:xfrm>
          <a:prstGeom prst="rect">
            <a:avLst/>
          </a:prstGeom>
          <a:noFill/>
          <a:ln/>
        </p:spPr>
        <p:txBody>
          <a:bodyPr wrap="square" rtlCol="0" anchor="ctr"/>
          <a:lstStyle/>
          <a:p>
            <a:pPr marL="0" indent="0">
              <a:buNone/>
            </a:pPr>
            <a:r>
              <a:rPr lang="en-US" sz="1000" dirty="0">
                <a:solidFill>
                  <a:srgbClr val="5A5F73"/>
                </a:solidFill>
                <a:latin typeface="Calibri" pitchFamily="34" charset="0"/>
                <a:ea typeface="Calibri" pitchFamily="34" charset="-122"/>
                <a:cs typeface="Calibri" pitchFamily="34" charset="-120"/>
              </a:rPr>
              <a:t>0:40</a:t>
            </a:r>
            <a:endParaRPr lang="en-US" sz="1000" dirty="0"/>
          </a:p>
        </p:txBody>
      </p:sp>
      <p:sp>
        <p:nvSpPr>
          <p:cNvPr id="33" name="Text 31"/>
          <p:cNvSpPr/>
          <p:nvPr/>
        </p:nvSpPr>
        <p:spPr>
          <a:xfrm>
            <a:off x="1792224" y="3145536"/>
            <a:ext cx="5577840" cy="256032"/>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Práctica por rol — Momento 1: brief · Momento 2: Drive</a:t>
            </a:r>
            <a:endParaRPr lang="en-US" sz="1200" dirty="0"/>
          </a:p>
        </p:txBody>
      </p:sp>
      <p:sp>
        <p:nvSpPr>
          <p:cNvPr id="34" name="Text 32"/>
          <p:cNvSpPr/>
          <p:nvPr/>
        </p:nvSpPr>
        <p:spPr>
          <a:xfrm>
            <a:off x="7589520" y="3145536"/>
            <a:ext cx="1005840" cy="256032"/>
          </a:xfrm>
          <a:prstGeom prst="rect">
            <a:avLst/>
          </a:prstGeom>
          <a:noFill/>
          <a:ln/>
        </p:spPr>
        <p:txBody>
          <a:bodyPr wrap="square" rtlCol="0" anchor="ctr"/>
          <a:lstStyle/>
          <a:p>
            <a:pPr marL="0" indent="0" algn="r">
              <a:buNone/>
            </a:pPr>
            <a:r>
              <a:rPr lang="en-US" sz="1000" b="1" dirty="0">
                <a:solidFill>
                  <a:srgbClr val="F5C842"/>
                </a:solidFill>
                <a:latin typeface="Calibri" pitchFamily="34" charset="0"/>
                <a:ea typeface="Calibri" pitchFamily="34" charset="-122"/>
                <a:cs typeface="Calibri" pitchFamily="34" charset="-120"/>
              </a:rPr>
              <a:t>35 min</a:t>
            </a:r>
            <a:endParaRPr lang="en-US" sz="1000" dirty="0"/>
          </a:p>
        </p:txBody>
      </p:sp>
      <p:sp>
        <p:nvSpPr>
          <p:cNvPr id="35" name="Shape 33"/>
          <p:cNvSpPr/>
          <p:nvPr/>
        </p:nvSpPr>
        <p:spPr>
          <a:xfrm>
            <a:off x="365760" y="3566160"/>
            <a:ext cx="8412480" cy="438912"/>
          </a:xfrm>
          <a:prstGeom prst="roundRect">
            <a:avLst>
              <a:gd name="adj" fmla="val 8333"/>
            </a:avLst>
          </a:prstGeom>
          <a:solidFill>
            <a:srgbClr val="FFFFFF"/>
          </a:solidFill>
          <a:ln w="12700">
            <a:solidFill>
              <a:srgbClr val="E5E5EA"/>
            </a:solidFill>
            <a:prstDash val="solid"/>
          </a:ln>
        </p:spPr>
        <p:txBody>
          <a:bodyPr/>
          <a:lstStyle/>
          <a:p>
            <a:endParaRPr lang="es-PE"/>
          </a:p>
        </p:txBody>
      </p:sp>
      <p:sp>
        <p:nvSpPr>
          <p:cNvPr id="36" name="Shape 34"/>
          <p:cNvSpPr/>
          <p:nvPr/>
        </p:nvSpPr>
        <p:spPr>
          <a:xfrm>
            <a:off x="365760" y="3566160"/>
            <a:ext cx="640080" cy="438912"/>
          </a:xfrm>
          <a:prstGeom prst="roundRect">
            <a:avLst>
              <a:gd name="adj" fmla="val 8333"/>
            </a:avLst>
          </a:prstGeom>
          <a:solidFill>
            <a:srgbClr val="1E2D6B"/>
          </a:solidFill>
          <a:ln/>
        </p:spPr>
        <p:txBody>
          <a:bodyPr/>
          <a:lstStyle/>
          <a:p>
            <a:endParaRPr lang="es-PE"/>
          </a:p>
        </p:txBody>
      </p:sp>
      <p:sp>
        <p:nvSpPr>
          <p:cNvPr id="37" name="Text 35"/>
          <p:cNvSpPr/>
          <p:nvPr/>
        </p:nvSpPr>
        <p:spPr>
          <a:xfrm>
            <a:off x="365760" y="3621024"/>
            <a:ext cx="640080" cy="329184"/>
          </a:xfrm>
          <a:prstGeom prst="rect">
            <a:avLst/>
          </a:prstGeom>
          <a:noFill/>
          <a:ln/>
        </p:spPr>
        <p:txBody>
          <a:bodyPr wrap="square" lIns="0" tIns="0" rIns="0" bIns="0" rtlCol="0" anchor="ctr"/>
          <a:lstStyle/>
          <a:p>
            <a:pPr marL="0" indent="0" algn="ctr">
              <a:buNone/>
            </a:pPr>
            <a:r>
              <a:rPr lang="en-US" sz="1200" b="1" dirty="0">
                <a:solidFill>
                  <a:srgbClr val="F5C842"/>
                </a:solidFill>
                <a:latin typeface="Calibri" pitchFamily="34" charset="0"/>
                <a:ea typeface="Calibri" pitchFamily="34" charset="-122"/>
                <a:cs typeface="Calibri" pitchFamily="34" charset="-120"/>
              </a:rPr>
              <a:t>06</a:t>
            </a:r>
            <a:endParaRPr lang="en-US" sz="1200" dirty="0"/>
          </a:p>
        </p:txBody>
      </p:sp>
      <p:sp>
        <p:nvSpPr>
          <p:cNvPr id="38" name="Text 36"/>
          <p:cNvSpPr/>
          <p:nvPr/>
        </p:nvSpPr>
        <p:spPr>
          <a:xfrm>
            <a:off x="1060704" y="3657600"/>
            <a:ext cx="685800" cy="256032"/>
          </a:xfrm>
          <a:prstGeom prst="rect">
            <a:avLst/>
          </a:prstGeom>
          <a:noFill/>
          <a:ln/>
        </p:spPr>
        <p:txBody>
          <a:bodyPr wrap="square" rtlCol="0" anchor="ctr"/>
          <a:lstStyle/>
          <a:p>
            <a:pPr marL="0" indent="0">
              <a:buNone/>
            </a:pPr>
            <a:r>
              <a:rPr lang="en-US" sz="1000" dirty="0">
                <a:solidFill>
                  <a:srgbClr val="5A5F73"/>
                </a:solidFill>
                <a:latin typeface="Calibri" pitchFamily="34" charset="0"/>
                <a:ea typeface="Calibri" pitchFamily="34" charset="-122"/>
                <a:cs typeface="Calibri" pitchFamily="34" charset="-120"/>
              </a:rPr>
              <a:t>1:15</a:t>
            </a:r>
            <a:endParaRPr lang="en-US" sz="1000" dirty="0"/>
          </a:p>
        </p:txBody>
      </p:sp>
      <p:sp>
        <p:nvSpPr>
          <p:cNvPr id="39" name="Text 37"/>
          <p:cNvSpPr/>
          <p:nvPr/>
        </p:nvSpPr>
        <p:spPr>
          <a:xfrm>
            <a:off x="1792224" y="3657600"/>
            <a:ext cx="5577840" cy="256032"/>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Comparación entre herramientas y edición del output</a:t>
            </a:r>
            <a:endParaRPr lang="en-US" sz="1200" dirty="0"/>
          </a:p>
        </p:txBody>
      </p:sp>
      <p:sp>
        <p:nvSpPr>
          <p:cNvPr id="40" name="Text 38"/>
          <p:cNvSpPr/>
          <p:nvPr/>
        </p:nvSpPr>
        <p:spPr>
          <a:xfrm>
            <a:off x="7589520" y="3657600"/>
            <a:ext cx="1005840" cy="256032"/>
          </a:xfrm>
          <a:prstGeom prst="rect">
            <a:avLst/>
          </a:prstGeom>
          <a:noFill/>
          <a:ln/>
        </p:spPr>
        <p:txBody>
          <a:bodyPr wrap="square" rtlCol="0" anchor="ctr"/>
          <a:lstStyle/>
          <a:p>
            <a:pPr marL="0" indent="0" algn="r">
              <a:buNone/>
            </a:pPr>
            <a:r>
              <a:rPr lang="en-US" sz="1000" b="1" dirty="0">
                <a:solidFill>
                  <a:srgbClr val="F5C842"/>
                </a:solidFill>
                <a:latin typeface="Calibri" pitchFamily="34" charset="0"/>
                <a:ea typeface="Calibri" pitchFamily="34" charset="-122"/>
                <a:cs typeface="Calibri" pitchFamily="34" charset="-120"/>
              </a:rPr>
              <a:t>10 min</a:t>
            </a:r>
            <a:endParaRPr lang="en-US" sz="1000" dirty="0"/>
          </a:p>
        </p:txBody>
      </p:sp>
      <p:sp>
        <p:nvSpPr>
          <p:cNvPr id="41" name="Shape 39"/>
          <p:cNvSpPr/>
          <p:nvPr/>
        </p:nvSpPr>
        <p:spPr>
          <a:xfrm>
            <a:off x="365760" y="4078224"/>
            <a:ext cx="8412480" cy="438912"/>
          </a:xfrm>
          <a:prstGeom prst="roundRect">
            <a:avLst>
              <a:gd name="adj" fmla="val 8333"/>
            </a:avLst>
          </a:prstGeom>
          <a:solidFill>
            <a:srgbClr val="F7F7F9"/>
          </a:solidFill>
          <a:ln w="12700">
            <a:solidFill>
              <a:srgbClr val="E5E5EA"/>
            </a:solidFill>
            <a:prstDash val="solid"/>
          </a:ln>
        </p:spPr>
        <p:txBody>
          <a:bodyPr/>
          <a:lstStyle/>
          <a:p>
            <a:endParaRPr lang="es-PE"/>
          </a:p>
        </p:txBody>
      </p:sp>
      <p:sp>
        <p:nvSpPr>
          <p:cNvPr id="42" name="Shape 40"/>
          <p:cNvSpPr/>
          <p:nvPr/>
        </p:nvSpPr>
        <p:spPr>
          <a:xfrm>
            <a:off x="365760" y="4078224"/>
            <a:ext cx="640080" cy="438912"/>
          </a:xfrm>
          <a:prstGeom prst="roundRect">
            <a:avLst>
              <a:gd name="adj" fmla="val 8333"/>
            </a:avLst>
          </a:prstGeom>
          <a:solidFill>
            <a:srgbClr val="1E2D6B"/>
          </a:solidFill>
          <a:ln/>
        </p:spPr>
        <p:txBody>
          <a:bodyPr/>
          <a:lstStyle/>
          <a:p>
            <a:endParaRPr lang="es-PE"/>
          </a:p>
        </p:txBody>
      </p:sp>
      <p:sp>
        <p:nvSpPr>
          <p:cNvPr id="43" name="Text 41"/>
          <p:cNvSpPr/>
          <p:nvPr/>
        </p:nvSpPr>
        <p:spPr>
          <a:xfrm>
            <a:off x="365760" y="4133088"/>
            <a:ext cx="640080" cy="329184"/>
          </a:xfrm>
          <a:prstGeom prst="rect">
            <a:avLst/>
          </a:prstGeom>
          <a:noFill/>
          <a:ln/>
        </p:spPr>
        <p:txBody>
          <a:bodyPr wrap="square" lIns="0" tIns="0" rIns="0" bIns="0" rtlCol="0" anchor="ctr"/>
          <a:lstStyle/>
          <a:p>
            <a:pPr marL="0" indent="0" algn="ctr">
              <a:buNone/>
            </a:pPr>
            <a:r>
              <a:rPr lang="en-US" sz="1200" b="1" dirty="0">
                <a:solidFill>
                  <a:srgbClr val="F5C842"/>
                </a:solidFill>
                <a:latin typeface="Calibri" pitchFamily="34" charset="0"/>
                <a:ea typeface="Calibri" pitchFamily="34" charset="-122"/>
                <a:cs typeface="Calibri" pitchFamily="34" charset="-120"/>
              </a:rPr>
              <a:t>07</a:t>
            </a:r>
            <a:endParaRPr lang="en-US" sz="1200" dirty="0"/>
          </a:p>
        </p:txBody>
      </p:sp>
      <p:sp>
        <p:nvSpPr>
          <p:cNvPr id="44" name="Text 42"/>
          <p:cNvSpPr/>
          <p:nvPr/>
        </p:nvSpPr>
        <p:spPr>
          <a:xfrm>
            <a:off x="1060704" y="4169664"/>
            <a:ext cx="685800" cy="256032"/>
          </a:xfrm>
          <a:prstGeom prst="rect">
            <a:avLst/>
          </a:prstGeom>
          <a:noFill/>
          <a:ln/>
        </p:spPr>
        <p:txBody>
          <a:bodyPr wrap="square" rtlCol="0" anchor="ctr"/>
          <a:lstStyle/>
          <a:p>
            <a:pPr marL="0" indent="0">
              <a:buNone/>
            </a:pPr>
            <a:r>
              <a:rPr lang="en-US" sz="1000" dirty="0">
                <a:solidFill>
                  <a:srgbClr val="5A5F73"/>
                </a:solidFill>
                <a:latin typeface="Calibri" pitchFamily="34" charset="0"/>
                <a:ea typeface="Calibri" pitchFamily="34" charset="-122"/>
                <a:cs typeface="Calibri" pitchFamily="34" charset="-120"/>
              </a:rPr>
              <a:t>1:25</a:t>
            </a:r>
            <a:endParaRPr lang="en-US" sz="1000" dirty="0"/>
          </a:p>
        </p:txBody>
      </p:sp>
      <p:sp>
        <p:nvSpPr>
          <p:cNvPr id="45" name="Text 43"/>
          <p:cNvSpPr/>
          <p:nvPr/>
        </p:nvSpPr>
        <p:spPr>
          <a:xfrm>
            <a:off x="1792224" y="4169664"/>
            <a:ext cx="5577840" cy="256032"/>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Kahoot de cierre + compromiso en voz alta</a:t>
            </a:r>
            <a:endParaRPr lang="en-US" sz="1200" dirty="0"/>
          </a:p>
        </p:txBody>
      </p:sp>
      <p:sp>
        <p:nvSpPr>
          <p:cNvPr id="46" name="Text 44"/>
          <p:cNvSpPr/>
          <p:nvPr/>
        </p:nvSpPr>
        <p:spPr>
          <a:xfrm>
            <a:off x="7589520" y="4169664"/>
            <a:ext cx="1005840" cy="256032"/>
          </a:xfrm>
          <a:prstGeom prst="rect">
            <a:avLst/>
          </a:prstGeom>
          <a:noFill/>
          <a:ln/>
        </p:spPr>
        <p:txBody>
          <a:bodyPr wrap="square" rtlCol="0" anchor="ctr"/>
          <a:lstStyle/>
          <a:p>
            <a:pPr marL="0" indent="0" algn="r">
              <a:buNone/>
            </a:pPr>
            <a:r>
              <a:rPr lang="en-US" sz="1000" b="1" dirty="0">
                <a:solidFill>
                  <a:srgbClr val="F5C842"/>
                </a:solidFill>
                <a:latin typeface="Calibri" pitchFamily="34" charset="0"/>
                <a:ea typeface="Calibri" pitchFamily="34" charset="-122"/>
                <a:cs typeface="Calibri" pitchFamily="34" charset="-120"/>
              </a:rPr>
              <a:t>10 min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B3A"/>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201168"/>
          </a:xfrm>
          <a:prstGeom prst="rect">
            <a:avLst/>
          </a:prstGeom>
          <a:noFill/>
          <a:ln/>
        </p:spPr>
        <p:txBody>
          <a:bodyPr wrap="square" rtlCol="0" anchor="ctr"/>
          <a:lstStyle/>
          <a:p>
            <a:pPr marL="0" indent="0">
              <a:buNone/>
            </a:pPr>
            <a:r>
              <a:rPr lang="en-US" sz="900" b="1" kern="0" spc="200" dirty="0">
                <a:solidFill>
                  <a:srgbClr val="F5C842"/>
                </a:solidFill>
                <a:latin typeface="Calibri" pitchFamily="34" charset="0"/>
                <a:ea typeface="Calibri" pitchFamily="34" charset="-122"/>
                <a:cs typeface="Calibri" pitchFamily="34" charset="-120"/>
              </a:rPr>
              <a:t>VITAMINAS TECNOLÓGICAS · CAPACITACIÓN IA</a:t>
            </a:r>
            <a:endParaRPr lang="en-US" sz="900" dirty="0"/>
          </a:p>
        </p:txBody>
      </p:sp>
      <p:sp>
        <p:nvSpPr>
          <p:cNvPr id="3" name="Text 1"/>
          <p:cNvSpPr/>
          <p:nvPr/>
        </p:nvSpPr>
        <p:spPr>
          <a:xfrm>
            <a:off x="6400800" y="4846320"/>
            <a:ext cx="2560320" cy="182880"/>
          </a:xfrm>
          <a:prstGeom prst="rect">
            <a:avLst/>
          </a:prstGeom>
          <a:noFill/>
          <a:ln/>
        </p:spPr>
        <p:txBody>
          <a:bodyPr wrap="square" rtlCol="0" anchor="ctr"/>
          <a:lstStyle/>
          <a:p>
            <a:pPr marL="0" indent="0" algn="r">
              <a:buNone/>
            </a:pPr>
            <a:r>
              <a:rPr lang="en-US" sz="800" dirty="0">
                <a:solidFill>
                  <a:srgbClr val="8899BB"/>
                </a:solidFill>
                <a:latin typeface="Calibri" pitchFamily="34" charset="0"/>
                <a:ea typeface="Calibri" pitchFamily="34" charset="-122"/>
                <a:cs typeface="Calibri" pitchFamily="34" charset="-120"/>
              </a:rPr>
              <a:t>BLOQUE 01</a:t>
            </a:r>
            <a:endParaRPr lang="en-US" sz="800" dirty="0"/>
          </a:p>
        </p:txBody>
      </p:sp>
      <p:sp>
        <p:nvSpPr>
          <p:cNvPr id="4" name="Shape 2"/>
          <p:cNvSpPr/>
          <p:nvPr/>
        </p:nvSpPr>
        <p:spPr>
          <a:xfrm>
            <a:off x="457200" y="457200"/>
            <a:ext cx="822960" cy="256032"/>
          </a:xfrm>
          <a:prstGeom prst="roundRect">
            <a:avLst>
              <a:gd name="adj" fmla="val 14286"/>
            </a:avLst>
          </a:prstGeom>
          <a:solidFill>
            <a:srgbClr val="F5C842"/>
          </a:solidFill>
          <a:ln/>
        </p:spPr>
        <p:txBody>
          <a:bodyPr/>
          <a:lstStyle/>
          <a:p>
            <a:endParaRPr lang="es-PE"/>
          </a:p>
        </p:txBody>
      </p:sp>
      <p:sp>
        <p:nvSpPr>
          <p:cNvPr id="5" name="Text 3"/>
          <p:cNvSpPr/>
          <p:nvPr/>
        </p:nvSpPr>
        <p:spPr>
          <a:xfrm>
            <a:off x="457200" y="466344"/>
            <a:ext cx="822960" cy="237744"/>
          </a:xfrm>
          <a:prstGeom prst="rect">
            <a:avLst/>
          </a:prstGeom>
          <a:noFill/>
          <a:ln/>
        </p:spPr>
        <p:txBody>
          <a:bodyPr wrap="square" lIns="0" tIns="0" rIns="0" bIns="0" rtlCol="0" anchor="ctr"/>
          <a:lstStyle/>
          <a:p>
            <a:pPr marL="0" indent="0" algn="ctr">
              <a:buNone/>
            </a:pPr>
            <a:r>
              <a:rPr lang="en-US" sz="900" b="1" dirty="0">
                <a:solidFill>
                  <a:srgbClr val="121B3A"/>
                </a:solidFill>
                <a:latin typeface="Calibri" pitchFamily="34" charset="0"/>
                <a:ea typeface="Calibri" pitchFamily="34" charset="-122"/>
                <a:cs typeface="Calibri" pitchFamily="34" charset="-120"/>
              </a:rPr>
              <a:t>01 //</a:t>
            </a:r>
            <a:endParaRPr lang="en-US" sz="900" dirty="0"/>
          </a:p>
        </p:txBody>
      </p:sp>
      <p:sp>
        <p:nvSpPr>
          <p:cNvPr id="6" name="Text 4"/>
          <p:cNvSpPr/>
          <p:nvPr/>
        </p:nvSpPr>
        <p:spPr>
          <a:xfrm>
            <a:off x="457200" y="777240"/>
            <a:ext cx="8229600" cy="475488"/>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Repaso — Sesión 0</a:t>
            </a:r>
            <a:endParaRPr lang="en-US" sz="3000" dirty="0"/>
          </a:p>
        </p:txBody>
      </p:sp>
      <p:sp>
        <p:nvSpPr>
          <p:cNvPr id="7" name="Text 5"/>
          <p:cNvSpPr/>
          <p:nvPr/>
        </p:nvSpPr>
        <p:spPr>
          <a:xfrm>
            <a:off x="457200" y="1298448"/>
            <a:ext cx="8229600" cy="292608"/>
          </a:xfrm>
          <a:prstGeom prst="rect">
            <a:avLst/>
          </a:prstGeom>
          <a:noFill/>
          <a:ln/>
        </p:spPr>
        <p:txBody>
          <a:bodyPr wrap="square" rtlCol="0" anchor="ctr"/>
          <a:lstStyle/>
          <a:p>
            <a:pPr marL="0" indent="0">
              <a:buNone/>
            </a:pPr>
            <a:r>
              <a:rPr lang="en-US" sz="1600" dirty="0">
                <a:solidFill>
                  <a:srgbClr val="A0AACC"/>
                </a:solidFill>
                <a:latin typeface="Calibri" pitchFamily="34" charset="0"/>
                <a:ea typeface="Calibri" pitchFamily="34" charset="-122"/>
                <a:cs typeface="Calibri" pitchFamily="34" charset="-120"/>
              </a:rPr>
              <a:t>Kahoot · 10 preguntas · 10 minutos</a:t>
            </a:r>
            <a:endParaRPr lang="en-US" sz="1600" dirty="0"/>
          </a:p>
        </p:txBody>
      </p:sp>
      <p:sp>
        <p:nvSpPr>
          <p:cNvPr id="8" name="Shape 6"/>
          <p:cNvSpPr/>
          <p:nvPr/>
        </p:nvSpPr>
        <p:spPr>
          <a:xfrm>
            <a:off x="2286000" y="1920240"/>
            <a:ext cx="4572000" cy="1463040"/>
          </a:xfrm>
          <a:prstGeom prst="roundRect">
            <a:avLst>
              <a:gd name="adj" fmla="val 7500"/>
            </a:avLst>
          </a:prstGeom>
          <a:solidFill>
            <a:srgbClr val="F5C842"/>
          </a:solidFill>
          <a:ln/>
        </p:spPr>
        <p:txBody>
          <a:bodyPr/>
          <a:lstStyle/>
          <a:p>
            <a:endParaRPr lang="es-PE"/>
          </a:p>
        </p:txBody>
      </p:sp>
      <p:sp>
        <p:nvSpPr>
          <p:cNvPr id="9" name="Text 7"/>
          <p:cNvSpPr/>
          <p:nvPr/>
        </p:nvSpPr>
        <p:spPr>
          <a:xfrm>
            <a:off x="2286000" y="2029968"/>
            <a:ext cx="4572000" cy="292608"/>
          </a:xfrm>
          <a:prstGeom prst="rect">
            <a:avLst/>
          </a:prstGeom>
          <a:noFill/>
          <a:ln/>
        </p:spPr>
        <p:txBody>
          <a:bodyPr wrap="square" lIns="0" tIns="0" rIns="0" bIns="0" rtlCol="0" anchor="ctr"/>
          <a:lstStyle/>
          <a:p>
            <a:pPr marL="0" indent="0" algn="ctr">
              <a:buNone/>
            </a:pPr>
            <a:r>
              <a:rPr lang="en-US" sz="1300" dirty="0">
                <a:solidFill>
                  <a:srgbClr val="121B3A"/>
                </a:solidFill>
                <a:latin typeface="Calibri" pitchFamily="34" charset="0"/>
                <a:ea typeface="Calibri" pitchFamily="34" charset="-122"/>
                <a:cs typeface="Calibri" pitchFamily="34" charset="-120"/>
              </a:rPr>
              <a:t>PIN de acceso</a:t>
            </a:r>
            <a:endParaRPr lang="en-US" sz="1300" dirty="0"/>
          </a:p>
        </p:txBody>
      </p:sp>
      <p:sp>
        <p:nvSpPr>
          <p:cNvPr id="10" name="Text 8"/>
          <p:cNvSpPr/>
          <p:nvPr/>
        </p:nvSpPr>
        <p:spPr>
          <a:xfrm>
            <a:off x="2286000" y="2322576"/>
            <a:ext cx="4572000" cy="694944"/>
          </a:xfrm>
          <a:prstGeom prst="rect">
            <a:avLst/>
          </a:prstGeom>
          <a:noFill/>
          <a:ln/>
        </p:spPr>
        <p:txBody>
          <a:bodyPr wrap="square" lIns="0" tIns="0" rIns="0" bIns="0" rtlCol="0" anchor="ctr"/>
          <a:lstStyle/>
          <a:p>
            <a:pPr algn="ctr"/>
            <a:r>
              <a:rPr lang="es-PE" sz="4400" b="1" dirty="0"/>
              <a:t>06822048</a:t>
            </a:r>
            <a:endParaRPr lang="en-US" sz="8800" dirty="0"/>
          </a:p>
        </p:txBody>
      </p:sp>
      <p:sp>
        <p:nvSpPr>
          <p:cNvPr id="11" name="Text 9"/>
          <p:cNvSpPr/>
          <p:nvPr/>
        </p:nvSpPr>
        <p:spPr>
          <a:xfrm>
            <a:off x="457200" y="3566160"/>
            <a:ext cx="8229600" cy="256032"/>
          </a:xfrm>
          <a:prstGeom prst="rect">
            <a:avLst/>
          </a:prstGeom>
          <a:noFill/>
          <a:ln/>
        </p:spPr>
        <p:txBody>
          <a:bodyPr wrap="square" rtlCol="0" anchor="ctr"/>
          <a:lstStyle/>
          <a:p>
            <a:pPr marL="0" indent="0" algn="ctr">
              <a:buNone/>
            </a:pPr>
            <a:r>
              <a:rPr lang="en-US" sz="1100" dirty="0">
                <a:solidFill>
                  <a:srgbClr val="8899BB"/>
                </a:solidFill>
                <a:latin typeface="Calibri" pitchFamily="34" charset="0"/>
                <a:ea typeface="Calibri" pitchFamily="34" charset="-122"/>
                <a:cs typeface="Calibri" pitchFamily="34" charset="-120"/>
              </a:rPr>
              <a:t>Ingresa en kahoot.it o abre la app · El PIN cambia solo durante la sesión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201168"/>
          </a:xfrm>
          <a:prstGeom prst="rect">
            <a:avLst/>
          </a:prstGeom>
          <a:noFill/>
          <a:ln/>
        </p:spPr>
        <p:txBody>
          <a:bodyPr wrap="square" rtlCol="0" anchor="ctr"/>
          <a:lstStyle/>
          <a:p>
            <a:pPr marL="0" indent="0">
              <a:buNone/>
            </a:pPr>
            <a:r>
              <a:rPr lang="en-US" sz="900" b="1" kern="0" spc="200" dirty="0">
                <a:solidFill>
                  <a:srgbClr val="F5C842"/>
                </a:solidFill>
                <a:latin typeface="Calibri" pitchFamily="34" charset="0"/>
                <a:ea typeface="Calibri" pitchFamily="34" charset="-122"/>
                <a:cs typeface="Calibri" pitchFamily="34" charset="-120"/>
              </a:rPr>
              <a:t>VITAMINAS TECNOLÓGICAS · CAPACITACIÓN IA</a:t>
            </a:r>
            <a:endParaRPr lang="en-US" sz="900" dirty="0"/>
          </a:p>
        </p:txBody>
      </p:sp>
      <p:sp>
        <p:nvSpPr>
          <p:cNvPr id="3" name="Text 1"/>
          <p:cNvSpPr/>
          <p:nvPr/>
        </p:nvSpPr>
        <p:spPr>
          <a:xfrm>
            <a:off x="6400800" y="4846320"/>
            <a:ext cx="2560320" cy="182880"/>
          </a:xfrm>
          <a:prstGeom prst="rect">
            <a:avLst/>
          </a:prstGeom>
          <a:noFill/>
          <a:ln/>
        </p:spPr>
        <p:txBody>
          <a:bodyPr wrap="square" rtlCol="0" anchor="ctr"/>
          <a:lstStyle/>
          <a:p>
            <a:pPr marL="0" indent="0" algn="r">
              <a:buNone/>
            </a:pPr>
            <a:r>
              <a:rPr lang="en-US" sz="800" dirty="0">
                <a:solidFill>
                  <a:srgbClr val="8899BB"/>
                </a:solidFill>
                <a:latin typeface="Calibri" pitchFamily="34" charset="0"/>
                <a:ea typeface="Calibri" pitchFamily="34" charset="-122"/>
                <a:cs typeface="Calibri" pitchFamily="34" charset="-120"/>
              </a:rPr>
              <a:t>BLOQUE 02</a:t>
            </a:r>
            <a:endParaRPr lang="en-US" sz="800" dirty="0"/>
          </a:p>
        </p:txBody>
      </p:sp>
      <p:sp>
        <p:nvSpPr>
          <p:cNvPr id="4" name="Shape 2"/>
          <p:cNvSpPr/>
          <p:nvPr/>
        </p:nvSpPr>
        <p:spPr>
          <a:xfrm>
            <a:off x="457200" y="411480"/>
            <a:ext cx="822960" cy="256032"/>
          </a:xfrm>
          <a:prstGeom prst="roundRect">
            <a:avLst>
              <a:gd name="adj" fmla="val 14286"/>
            </a:avLst>
          </a:prstGeom>
          <a:solidFill>
            <a:srgbClr val="F5C842"/>
          </a:solidFill>
          <a:ln/>
        </p:spPr>
        <p:txBody>
          <a:bodyPr/>
          <a:lstStyle/>
          <a:p>
            <a:endParaRPr lang="es-PE"/>
          </a:p>
        </p:txBody>
      </p:sp>
      <p:sp>
        <p:nvSpPr>
          <p:cNvPr id="5" name="Text 3"/>
          <p:cNvSpPr/>
          <p:nvPr/>
        </p:nvSpPr>
        <p:spPr>
          <a:xfrm>
            <a:off x="457200" y="420624"/>
            <a:ext cx="822960" cy="237744"/>
          </a:xfrm>
          <a:prstGeom prst="rect">
            <a:avLst/>
          </a:prstGeom>
          <a:noFill/>
          <a:ln/>
        </p:spPr>
        <p:txBody>
          <a:bodyPr wrap="square" lIns="0" tIns="0" rIns="0" bIns="0" rtlCol="0" anchor="ctr"/>
          <a:lstStyle/>
          <a:p>
            <a:pPr marL="0" indent="0" algn="ctr">
              <a:buNone/>
            </a:pPr>
            <a:r>
              <a:rPr lang="en-US" sz="900" b="1" dirty="0">
                <a:solidFill>
                  <a:srgbClr val="121B3A"/>
                </a:solidFill>
                <a:latin typeface="Calibri" pitchFamily="34" charset="0"/>
                <a:ea typeface="Calibri" pitchFamily="34" charset="-122"/>
                <a:cs typeface="Calibri" pitchFamily="34" charset="-120"/>
              </a:rPr>
              <a:t>02 //</a:t>
            </a:r>
            <a:endParaRPr lang="en-US" sz="900" dirty="0"/>
          </a:p>
        </p:txBody>
      </p:sp>
      <p:sp>
        <p:nvSpPr>
          <p:cNvPr id="6" name="Text 4"/>
          <p:cNvSpPr/>
          <p:nvPr/>
        </p:nvSpPr>
        <p:spPr>
          <a:xfrm>
            <a:off x="457200" y="731520"/>
            <a:ext cx="8229600" cy="438912"/>
          </a:xfrm>
          <a:prstGeom prst="rect">
            <a:avLst/>
          </a:prstGeom>
          <a:noFill/>
          <a:ln/>
        </p:spPr>
        <p:txBody>
          <a:bodyPr wrap="square" rtlCol="0" anchor="ctr"/>
          <a:lstStyle/>
          <a:p>
            <a:pPr marL="0" indent="0">
              <a:buNone/>
            </a:pPr>
            <a:r>
              <a:rPr lang="en-US" sz="2600" b="1" dirty="0">
                <a:solidFill>
                  <a:srgbClr val="121B3A"/>
                </a:solidFill>
                <a:latin typeface="Cambria" pitchFamily="34" charset="0"/>
                <a:ea typeface="Cambria" pitchFamily="34" charset="-122"/>
                <a:cs typeface="Cambria" pitchFamily="34" charset="-120"/>
              </a:rPr>
              <a:t>Herramientas de la sesión</a:t>
            </a:r>
            <a:endParaRPr lang="en-US" sz="2600" dirty="0"/>
          </a:p>
        </p:txBody>
      </p:sp>
      <p:sp>
        <p:nvSpPr>
          <p:cNvPr id="7" name="Shape 5"/>
          <p:cNvSpPr/>
          <p:nvPr/>
        </p:nvSpPr>
        <p:spPr>
          <a:xfrm>
            <a:off x="457200" y="1280160"/>
            <a:ext cx="3931920" cy="3108960"/>
          </a:xfrm>
          <a:prstGeom prst="roundRect">
            <a:avLst>
              <a:gd name="adj" fmla="val 2353"/>
            </a:avLst>
          </a:prstGeom>
          <a:solidFill>
            <a:srgbClr val="F7F7F9"/>
          </a:solidFill>
          <a:ln w="12700">
            <a:solidFill>
              <a:srgbClr val="E5E5EA"/>
            </a:solidFill>
            <a:prstDash val="solid"/>
          </a:ln>
          <a:effectLst>
            <a:outerShdw blurRad="101600" dist="25400" dir="2700000" algn="bl" rotWithShape="0">
              <a:srgbClr val="000000">
                <a:alpha val="8000"/>
              </a:srgbClr>
            </a:outerShdw>
          </a:effectLst>
        </p:spPr>
        <p:txBody>
          <a:bodyPr/>
          <a:lstStyle/>
          <a:p>
            <a:endParaRPr lang="es-PE"/>
          </a:p>
        </p:txBody>
      </p:sp>
      <p:sp>
        <p:nvSpPr>
          <p:cNvPr id="8" name="Shape 6"/>
          <p:cNvSpPr/>
          <p:nvPr/>
        </p:nvSpPr>
        <p:spPr>
          <a:xfrm>
            <a:off x="1508760" y="1554480"/>
            <a:ext cx="1463040" cy="1463040"/>
          </a:xfrm>
          <a:prstGeom prst="roundRect">
            <a:avLst>
              <a:gd name="adj" fmla="val 6250"/>
            </a:avLst>
          </a:prstGeom>
          <a:solidFill>
            <a:srgbClr val="1E2D6B"/>
          </a:solidFill>
          <a:ln/>
        </p:spPr>
        <p:txBody>
          <a:bodyPr/>
          <a:lstStyle/>
          <a:p>
            <a:endParaRPr lang="es-PE"/>
          </a:p>
        </p:txBody>
      </p:sp>
      <p:sp>
        <p:nvSpPr>
          <p:cNvPr id="9" name="Text 7"/>
          <p:cNvSpPr/>
          <p:nvPr/>
        </p:nvSpPr>
        <p:spPr>
          <a:xfrm>
            <a:off x="1508760" y="1737360"/>
            <a:ext cx="1463040" cy="1097280"/>
          </a:xfrm>
          <a:prstGeom prst="rect">
            <a:avLst/>
          </a:prstGeom>
          <a:noFill/>
          <a:ln/>
        </p:spPr>
        <p:txBody>
          <a:bodyPr wrap="square" lIns="0" tIns="0" rIns="0" bIns="0" rtlCol="0" anchor="ctr"/>
          <a:lstStyle/>
          <a:p>
            <a:pPr marL="0" indent="0" algn="ctr">
              <a:buNone/>
            </a:pPr>
            <a:r>
              <a:rPr lang="en-US" sz="5200" b="1" dirty="0">
                <a:solidFill>
                  <a:srgbClr val="F5C842"/>
                </a:solidFill>
                <a:latin typeface="Cambria" pitchFamily="34" charset="0"/>
                <a:ea typeface="Cambria" pitchFamily="34" charset="-122"/>
                <a:cs typeface="Cambria" pitchFamily="34" charset="-120"/>
              </a:rPr>
              <a:t>G</a:t>
            </a:r>
            <a:endParaRPr lang="en-US" sz="5200" dirty="0"/>
          </a:p>
        </p:txBody>
      </p:sp>
      <p:sp>
        <p:nvSpPr>
          <p:cNvPr id="10" name="Text 8"/>
          <p:cNvSpPr/>
          <p:nvPr/>
        </p:nvSpPr>
        <p:spPr>
          <a:xfrm>
            <a:off x="548640" y="3127248"/>
            <a:ext cx="3749040" cy="320040"/>
          </a:xfrm>
          <a:prstGeom prst="rect">
            <a:avLst/>
          </a:prstGeom>
          <a:noFill/>
          <a:ln/>
        </p:spPr>
        <p:txBody>
          <a:bodyPr wrap="square" lIns="0" tIns="0" rIns="0" bIns="0" rtlCol="0" anchor="ctr"/>
          <a:lstStyle/>
          <a:p>
            <a:pPr marL="0" indent="0" algn="ctr">
              <a:buNone/>
            </a:pPr>
            <a:r>
              <a:rPr lang="en-US" sz="1600" b="1" dirty="0">
                <a:solidFill>
                  <a:srgbClr val="121B3A"/>
                </a:solidFill>
                <a:latin typeface="Cambria" pitchFamily="34" charset="0"/>
                <a:ea typeface="Cambria" pitchFamily="34" charset="-122"/>
                <a:cs typeface="Cambria" pitchFamily="34" charset="-120"/>
              </a:rPr>
              <a:t>ChatGPT</a:t>
            </a:r>
            <a:endParaRPr lang="en-US" sz="1600" dirty="0"/>
          </a:p>
        </p:txBody>
      </p:sp>
      <p:sp>
        <p:nvSpPr>
          <p:cNvPr id="11" name="Text 9"/>
          <p:cNvSpPr/>
          <p:nvPr/>
        </p:nvSpPr>
        <p:spPr>
          <a:xfrm>
            <a:off x="548640" y="3447288"/>
            <a:ext cx="3749040" cy="201168"/>
          </a:xfrm>
          <a:prstGeom prst="rect">
            <a:avLst/>
          </a:prstGeom>
          <a:noFill/>
          <a:ln/>
        </p:spPr>
        <p:txBody>
          <a:bodyPr wrap="square" lIns="0" tIns="0" rIns="0" bIns="0" rtlCol="0" anchor="ctr"/>
          <a:lstStyle/>
          <a:p>
            <a:pPr marL="0" indent="0" algn="ctr">
              <a:buNone/>
            </a:pPr>
            <a:r>
              <a:rPr lang="en-US" sz="1000" b="1" kern="0" spc="100" dirty="0">
                <a:solidFill>
                  <a:srgbClr val="F5C842"/>
                </a:solidFill>
                <a:latin typeface="Calibri" pitchFamily="34" charset="0"/>
                <a:ea typeface="Calibri" pitchFamily="34" charset="-122"/>
                <a:cs typeface="Calibri" pitchFamily="34" charset="-120"/>
              </a:rPr>
              <a:t>Herramienta principal</a:t>
            </a:r>
            <a:endParaRPr lang="en-US" sz="1000" dirty="0"/>
          </a:p>
        </p:txBody>
      </p:sp>
      <p:sp>
        <p:nvSpPr>
          <p:cNvPr id="12" name="Text 10"/>
          <p:cNvSpPr/>
          <p:nvPr/>
        </p:nvSpPr>
        <p:spPr>
          <a:xfrm>
            <a:off x="548640" y="3675888"/>
            <a:ext cx="3749040" cy="548640"/>
          </a:xfrm>
          <a:prstGeom prst="rect">
            <a:avLst/>
          </a:prstGeom>
          <a:noFill/>
          <a:ln/>
        </p:spPr>
        <p:txBody>
          <a:bodyPr wrap="square" lIns="0" tIns="0" rIns="0" bIns="0" rtlCol="0" anchor="ctr"/>
          <a:lstStyle/>
          <a:p>
            <a:pPr marL="0" indent="0" algn="ctr">
              <a:buNone/>
            </a:pPr>
            <a:r>
              <a:rPr lang="en-US" sz="1100" dirty="0">
                <a:solidFill>
                  <a:srgbClr val="5A5F73"/>
                </a:solidFill>
                <a:latin typeface="Calibri" pitchFamily="34" charset="0"/>
                <a:ea typeface="Calibri" pitchFamily="34" charset="-122"/>
                <a:cs typeface="Calibri" pitchFamily="34" charset="-120"/>
              </a:rPr>
              <a:t>Captions · Copies · Guiones</a:t>
            </a:r>
            <a:endParaRPr lang="en-US" sz="1100" dirty="0"/>
          </a:p>
          <a:p>
            <a:pPr marL="0" indent="0" algn="ctr">
              <a:buNone/>
            </a:pPr>
            <a:r>
              <a:rPr lang="en-US" sz="1100" dirty="0">
                <a:solidFill>
                  <a:srgbClr val="5A5F73"/>
                </a:solidFill>
                <a:latin typeface="Calibri" pitchFamily="34" charset="0"/>
                <a:ea typeface="Calibri" pitchFamily="34" charset="-122"/>
                <a:cs typeface="Calibri" pitchFamily="34" charset="-120"/>
              </a:rPr>
              <a:t>Configura instrucciones personalizadas antes de empezar</a:t>
            </a:r>
            <a:endParaRPr lang="en-US" sz="1100" dirty="0"/>
          </a:p>
        </p:txBody>
      </p:sp>
      <p:sp>
        <p:nvSpPr>
          <p:cNvPr id="13" name="Shape 11"/>
          <p:cNvSpPr/>
          <p:nvPr/>
        </p:nvSpPr>
        <p:spPr>
          <a:xfrm>
            <a:off x="4754880" y="1280160"/>
            <a:ext cx="3931920" cy="3108960"/>
          </a:xfrm>
          <a:prstGeom prst="roundRect">
            <a:avLst>
              <a:gd name="adj" fmla="val 2353"/>
            </a:avLst>
          </a:prstGeom>
          <a:solidFill>
            <a:srgbClr val="F7F7F9"/>
          </a:solidFill>
          <a:ln w="12700">
            <a:solidFill>
              <a:srgbClr val="E5E5EA"/>
            </a:solidFill>
            <a:prstDash val="solid"/>
          </a:ln>
          <a:effectLst>
            <a:outerShdw blurRad="101600" dist="25400" dir="2700000" algn="bl" rotWithShape="0">
              <a:srgbClr val="000000">
                <a:alpha val="8000"/>
              </a:srgbClr>
            </a:outerShdw>
          </a:effectLst>
        </p:spPr>
        <p:txBody>
          <a:bodyPr/>
          <a:lstStyle/>
          <a:p>
            <a:endParaRPr lang="es-PE"/>
          </a:p>
        </p:txBody>
      </p:sp>
      <p:sp>
        <p:nvSpPr>
          <p:cNvPr id="14" name="Shape 12"/>
          <p:cNvSpPr/>
          <p:nvPr/>
        </p:nvSpPr>
        <p:spPr>
          <a:xfrm>
            <a:off x="5806440" y="1554480"/>
            <a:ext cx="1463040" cy="1463040"/>
          </a:xfrm>
          <a:prstGeom prst="roundRect">
            <a:avLst>
              <a:gd name="adj" fmla="val 6250"/>
            </a:avLst>
          </a:prstGeom>
          <a:solidFill>
            <a:srgbClr val="1E2D6B"/>
          </a:solidFill>
          <a:ln/>
        </p:spPr>
        <p:txBody>
          <a:bodyPr/>
          <a:lstStyle/>
          <a:p>
            <a:endParaRPr lang="es-PE"/>
          </a:p>
        </p:txBody>
      </p:sp>
      <p:sp>
        <p:nvSpPr>
          <p:cNvPr id="15" name="Text 13"/>
          <p:cNvSpPr/>
          <p:nvPr/>
        </p:nvSpPr>
        <p:spPr>
          <a:xfrm>
            <a:off x="5806440" y="1737360"/>
            <a:ext cx="1463040" cy="1097280"/>
          </a:xfrm>
          <a:prstGeom prst="rect">
            <a:avLst/>
          </a:prstGeom>
          <a:noFill/>
          <a:ln/>
        </p:spPr>
        <p:txBody>
          <a:bodyPr wrap="square" lIns="0" tIns="0" rIns="0" bIns="0" rtlCol="0" anchor="ctr"/>
          <a:lstStyle/>
          <a:p>
            <a:pPr marL="0" indent="0" algn="ctr">
              <a:buNone/>
            </a:pPr>
            <a:r>
              <a:rPr lang="en-US" sz="4800" dirty="0">
                <a:solidFill>
                  <a:srgbClr val="F5C842"/>
                </a:solidFill>
                <a:latin typeface="Calibri" pitchFamily="34" charset="0"/>
                <a:ea typeface="Calibri" pitchFamily="34" charset="-122"/>
                <a:cs typeface="Calibri" pitchFamily="34" charset="-120"/>
              </a:rPr>
              <a:t>✦</a:t>
            </a:r>
            <a:endParaRPr lang="en-US" sz="4800" dirty="0"/>
          </a:p>
        </p:txBody>
      </p:sp>
      <p:sp>
        <p:nvSpPr>
          <p:cNvPr id="16" name="Text 14"/>
          <p:cNvSpPr/>
          <p:nvPr/>
        </p:nvSpPr>
        <p:spPr>
          <a:xfrm>
            <a:off x="4846320" y="3127248"/>
            <a:ext cx="3749040" cy="320040"/>
          </a:xfrm>
          <a:prstGeom prst="rect">
            <a:avLst/>
          </a:prstGeom>
          <a:noFill/>
          <a:ln/>
        </p:spPr>
        <p:txBody>
          <a:bodyPr wrap="square" lIns="0" tIns="0" rIns="0" bIns="0" rtlCol="0" anchor="ctr"/>
          <a:lstStyle/>
          <a:p>
            <a:pPr marL="0" indent="0" algn="ctr">
              <a:buNone/>
            </a:pPr>
            <a:r>
              <a:rPr lang="en-US" sz="1600" b="1" dirty="0">
                <a:solidFill>
                  <a:srgbClr val="121B3A"/>
                </a:solidFill>
                <a:latin typeface="Cambria" pitchFamily="34" charset="0"/>
                <a:ea typeface="Cambria" pitchFamily="34" charset="-122"/>
                <a:cs typeface="Cambria" pitchFamily="34" charset="-120"/>
              </a:rPr>
              <a:t>Gemini</a:t>
            </a:r>
            <a:endParaRPr lang="en-US" sz="1600" dirty="0"/>
          </a:p>
        </p:txBody>
      </p:sp>
      <p:sp>
        <p:nvSpPr>
          <p:cNvPr id="17" name="Text 15"/>
          <p:cNvSpPr/>
          <p:nvPr/>
        </p:nvSpPr>
        <p:spPr>
          <a:xfrm>
            <a:off x="4846320" y="3447288"/>
            <a:ext cx="3749040" cy="201168"/>
          </a:xfrm>
          <a:prstGeom prst="rect">
            <a:avLst/>
          </a:prstGeom>
          <a:noFill/>
          <a:ln/>
        </p:spPr>
        <p:txBody>
          <a:bodyPr wrap="square" lIns="0" tIns="0" rIns="0" bIns="0" rtlCol="0" anchor="ctr"/>
          <a:lstStyle/>
          <a:p>
            <a:pPr marL="0" indent="0" algn="ctr">
              <a:buNone/>
            </a:pPr>
            <a:r>
              <a:rPr lang="en-US" sz="1000" b="1" kern="0" spc="100" dirty="0">
                <a:solidFill>
                  <a:srgbClr val="5A5F73"/>
                </a:solidFill>
                <a:latin typeface="Calibri" pitchFamily="34" charset="0"/>
                <a:ea typeface="Calibri" pitchFamily="34" charset="-122"/>
                <a:cs typeface="Calibri" pitchFamily="34" charset="-120"/>
              </a:rPr>
              <a:t>Herramienta de comparación</a:t>
            </a:r>
            <a:endParaRPr lang="en-US" sz="1000" dirty="0"/>
          </a:p>
        </p:txBody>
      </p:sp>
      <p:sp>
        <p:nvSpPr>
          <p:cNvPr id="18" name="Text 16"/>
          <p:cNvSpPr/>
          <p:nvPr/>
        </p:nvSpPr>
        <p:spPr>
          <a:xfrm>
            <a:off x="4846320" y="3675888"/>
            <a:ext cx="3749040" cy="548640"/>
          </a:xfrm>
          <a:prstGeom prst="rect">
            <a:avLst/>
          </a:prstGeom>
          <a:noFill/>
          <a:ln/>
        </p:spPr>
        <p:txBody>
          <a:bodyPr wrap="square" lIns="0" tIns="0" rIns="0" bIns="0" rtlCol="0" anchor="ctr"/>
          <a:lstStyle/>
          <a:p>
            <a:pPr marL="0" indent="0" algn="ctr">
              <a:buNone/>
            </a:pPr>
            <a:r>
              <a:rPr lang="en-US" sz="1100" dirty="0">
                <a:solidFill>
                  <a:srgbClr val="5A5F73"/>
                </a:solidFill>
                <a:latin typeface="Calibri" pitchFamily="34" charset="0"/>
                <a:ea typeface="Calibri" pitchFamily="34" charset="-122"/>
                <a:cs typeface="Calibri" pitchFamily="34" charset="-120"/>
              </a:rPr>
              <a:t>Ejecuta el mismo prompt en Gemini</a:t>
            </a:r>
            <a:endParaRPr lang="en-US" sz="1100" dirty="0"/>
          </a:p>
          <a:p>
            <a:pPr marL="0" indent="0" algn="ctr">
              <a:buNone/>
            </a:pPr>
            <a:r>
              <a:rPr lang="en-US" sz="1100" dirty="0">
                <a:solidFill>
                  <a:srgbClr val="5A5F73"/>
                </a:solidFill>
                <a:latin typeface="Calibri" pitchFamily="34" charset="0"/>
                <a:ea typeface="Calibri" pitchFamily="34" charset="-122"/>
                <a:cs typeface="Calibri" pitchFamily="34" charset="-120"/>
              </a:rPr>
              <a:t>y compara el output antes de editar</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201168"/>
          </a:xfrm>
          <a:prstGeom prst="rect">
            <a:avLst/>
          </a:prstGeom>
          <a:noFill/>
          <a:ln/>
        </p:spPr>
        <p:txBody>
          <a:bodyPr wrap="square" rtlCol="0" anchor="ctr"/>
          <a:lstStyle/>
          <a:p>
            <a:pPr marL="0" indent="0">
              <a:buNone/>
            </a:pPr>
            <a:r>
              <a:rPr lang="en-US" sz="900" b="1" kern="0" spc="200" dirty="0">
                <a:solidFill>
                  <a:srgbClr val="F5C842"/>
                </a:solidFill>
                <a:latin typeface="Calibri" pitchFamily="34" charset="0"/>
                <a:ea typeface="Calibri" pitchFamily="34" charset="-122"/>
                <a:cs typeface="Calibri" pitchFamily="34" charset="-120"/>
              </a:rPr>
              <a:t>VITAMINAS TECNOLÓGICAS · CAPACITACIÓN IA</a:t>
            </a:r>
            <a:endParaRPr lang="en-US" sz="900" dirty="0"/>
          </a:p>
        </p:txBody>
      </p:sp>
      <p:sp>
        <p:nvSpPr>
          <p:cNvPr id="3" name="Text 1"/>
          <p:cNvSpPr/>
          <p:nvPr/>
        </p:nvSpPr>
        <p:spPr>
          <a:xfrm>
            <a:off x="6400800" y="4846320"/>
            <a:ext cx="2560320" cy="182880"/>
          </a:xfrm>
          <a:prstGeom prst="rect">
            <a:avLst/>
          </a:prstGeom>
          <a:noFill/>
          <a:ln/>
        </p:spPr>
        <p:txBody>
          <a:bodyPr wrap="square" rtlCol="0" anchor="ctr"/>
          <a:lstStyle/>
          <a:p>
            <a:pPr marL="0" indent="0" algn="r">
              <a:buNone/>
            </a:pPr>
            <a:r>
              <a:rPr lang="en-US" sz="800" dirty="0">
                <a:solidFill>
                  <a:srgbClr val="8899BB"/>
                </a:solidFill>
                <a:latin typeface="Calibri" pitchFamily="34" charset="0"/>
                <a:ea typeface="Calibri" pitchFamily="34" charset="-122"/>
                <a:cs typeface="Calibri" pitchFamily="34" charset="-120"/>
              </a:rPr>
              <a:t>BLOQUE 02</a:t>
            </a:r>
            <a:endParaRPr lang="en-US" sz="800" dirty="0"/>
          </a:p>
        </p:txBody>
      </p:sp>
      <p:sp>
        <p:nvSpPr>
          <p:cNvPr id="4" name="Text 2"/>
          <p:cNvSpPr/>
          <p:nvPr/>
        </p:nvSpPr>
        <p:spPr>
          <a:xfrm>
            <a:off x="457200" y="411480"/>
            <a:ext cx="8229600" cy="384048"/>
          </a:xfrm>
          <a:prstGeom prst="rect">
            <a:avLst/>
          </a:prstGeom>
          <a:noFill/>
          <a:ln/>
        </p:spPr>
        <p:txBody>
          <a:bodyPr wrap="square" rtlCol="0" anchor="ctr"/>
          <a:lstStyle/>
          <a:p>
            <a:pPr marL="0" indent="0">
              <a:buNone/>
            </a:pPr>
            <a:r>
              <a:rPr lang="en-US" sz="2400" b="1" dirty="0">
                <a:solidFill>
                  <a:srgbClr val="121B3A"/>
                </a:solidFill>
                <a:latin typeface="Cambria" pitchFamily="34" charset="0"/>
                <a:ea typeface="Cambria" pitchFamily="34" charset="-122"/>
                <a:cs typeface="Cambria" pitchFamily="34" charset="-120"/>
              </a:rPr>
              <a:t>Configuración — ChatGPT</a:t>
            </a:r>
            <a:endParaRPr lang="en-US" sz="2400" dirty="0"/>
          </a:p>
        </p:txBody>
      </p:sp>
      <p:sp>
        <p:nvSpPr>
          <p:cNvPr id="5" name="Text 3"/>
          <p:cNvSpPr/>
          <p:nvPr/>
        </p:nvSpPr>
        <p:spPr>
          <a:xfrm>
            <a:off x="457200" y="841248"/>
            <a:ext cx="8229600" cy="256032"/>
          </a:xfrm>
          <a:prstGeom prst="rect">
            <a:avLst/>
          </a:prstGeom>
          <a:noFill/>
          <a:ln/>
        </p:spPr>
        <p:txBody>
          <a:bodyPr wrap="square" rtlCol="0" anchor="ctr"/>
          <a:lstStyle/>
          <a:p>
            <a:pPr marL="0" indent="0">
              <a:buNone/>
            </a:pPr>
            <a:r>
              <a:rPr lang="en-US" sz="1200" dirty="0">
                <a:solidFill>
                  <a:srgbClr val="5A5F73"/>
                </a:solidFill>
                <a:latin typeface="Calibri" pitchFamily="34" charset="0"/>
                <a:ea typeface="Calibri" pitchFamily="34" charset="-122"/>
                <a:cs typeface="Calibri" pitchFamily="34" charset="-120"/>
              </a:rPr>
              <a:t>Configuración › Personalización › Instrucciones personalizadas › campo «Qué debería saber sobre mí»</a:t>
            </a:r>
            <a:endParaRPr lang="en-US" sz="1200" dirty="0"/>
          </a:p>
        </p:txBody>
      </p:sp>
      <p:sp>
        <p:nvSpPr>
          <p:cNvPr id="6" name="Text 4"/>
          <p:cNvSpPr/>
          <p:nvPr/>
        </p:nvSpPr>
        <p:spPr>
          <a:xfrm>
            <a:off x="457200" y="1188720"/>
            <a:ext cx="8229600" cy="237744"/>
          </a:xfrm>
          <a:prstGeom prst="rect">
            <a:avLst/>
          </a:prstGeom>
          <a:noFill/>
          <a:ln/>
        </p:spPr>
        <p:txBody>
          <a:bodyPr wrap="square" rtlCol="0" anchor="ctr"/>
          <a:lstStyle/>
          <a:p>
            <a:pPr marL="0" indent="0">
              <a:buNone/>
            </a:pPr>
            <a:r>
              <a:rPr lang="en-US" sz="1400" b="1" dirty="0">
                <a:solidFill>
                  <a:srgbClr val="121B3A"/>
                </a:solidFill>
                <a:latin typeface="Calibri" pitchFamily="34" charset="0"/>
                <a:ea typeface="Calibri" pitchFamily="34" charset="-122"/>
                <a:cs typeface="Calibri" pitchFamily="34" charset="-120"/>
              </a:rPr>
              <a:t>Copia y pega exactamente:</a:t>
            </a:r>
            <a:endParaRPr lang="en-US" sz="1400" dirty="0"/>
          </a:p>
        </p:txBody>
      </p:sp>
      <p:sp>
        <p:nvSpPr>
          <p:cNvPr id="7" name="Shape 5"/>
          <p:cNvSpPr/>
          <p:nvPr/>
        </p:nvSpPr>
        <p:spPr>
          <a:xfrm>
            <a:off x="457200" y="1508760"/>
            <a:ext cx="36576" cy="1737360"/>
          </a:xfrm>
          <a:prstGeom prst="rect">
            <a:avLst/>
          </a:prstGeom>
          <a:solidFill>
            <a:srgbClr val="F5C842"/>
          </a:solidFill>
          <a:ln w="12700">
            <a:solidFill>
              <a:srgbClr val="F5C842"/>
            </a:solidFill>
            <a:prstDash val="solid"/>
          </a:ln>
        </p:spPr>
        <p:txBody>
          <a:bodyPr/>
          <a:lstStyle/>
          <a:p>
            <a:endParaRPr lang="es-PE" sz="2000"/>
          </a:p>
        </p:txBody>
      </p:sp>
      <p:sp>
        <p:nvSpPr>
          <p:cNvPr id="8" name="Shape 6"/>
          <p:cNvSpPr/>
          <p:nvPr/>
        </p:nvSpPr>
        <p:spPr>
          <a:xfrm>
            <a:off x="493776" y="1508760"/>
            <a:ext cx="8193024" cy="1737360"/>
          </a:xfrm>
          <a:prstGeom prst="rect">
            <a:avLst/>
          </a:prstGeom>
          <a:solidFill>
            <a:srgbClr val="F7F7F9"/>
          </a:solidFill>
          <a:ln w="12700">
            <a:solidFill>
              <a:srgbClr val="E5E5EA"/>
            </a:solidFill>
            <a:prstDash val="solid"/>
          </a:ln>
        </p:spPr>
        <p:txBody>
          <a:bodyPr/>
          <a:lstStyle/>
          <a:p>
            <a:endParaRPr lang="es-PE" sz="2000"/>
          </a:p>
        </p:txBody>
      </p:sp>
      <p:sp>
        <p:nvSpPr>
          <p:cNvPr id="9" name="Text 7"/>
          <p:cNvSpPr/>
          <p:nvPr/>
        </p:nvSpPr>
        <p:spPr>
          <a:xfrm>
            <a:off x="585216" y="1581912"/>
            <a:ext cx="8046720" cy="1591056"/>
          </a:xfrm>
          <a:prstGeom prst="rect">
            <a:avLst/>
          </a:prstGeom>
          <a:noFill/>
          <a:ln/>
        </p:spPr>
        <p:txBody>
          <a:bodyPr wrap="square" rtlCol="0" anchor="t"/>
          <a:lstStyle/>
          <a:p>
            <a:pPr marL="0" indent="0" algn="just">
              <a:buNone/>
            </a:pPr>
            <a:r>
              <a:rPr lang="en-US" sz="1600" dirty="0">
                <a:solidFill>
                  <a:srgbClr val="1A1A1A"/>
                </a:solidFill>
                <a:latin typeface="Calibri" pitchFamily="34" charset="0"/>
                <a:ea typeface="Calibri" pitchFamily="34" charset="-122"/>
                <a:cs typeface="Calibri" pitchFamily="34" charset="-120"/>
              </a:rPr>
              <a:t>Trabajo en el equipo de tráfico y contenido de Elite Expert Academy, una academia online de estética avanzada con presencia en Perú, Colombia, Bolivia, Venezuela y EE.UU. Producimos contenido para Instagram y Facebook. Nuestro público objetivo son esteticistas con experiencia que buscan especializarse. Tono de marca: cercano, profesional y aspiracional sin frases vacías. Canal principal: Meta (Instagram + Facebook). Usamos captions, copies para anuncios y guiones de reels.</a:t>
            </a:r>
            <a:endParaRPr lang="en-US" sz="1600" dirty="0"/>
          </a:p>
        </p:txBody>
      </p:sp>
      <p:sp>
        <p:nvSpPr>
          <p:cNvPr id="10" name="Text 8"/>
          <p:cNvSpPr/>
          <p:nvPr/>
        </p:nvSpPr>
        <p:spPr>
          <a:xfrm>
            <a:off x="457200" y="3337560"/>
            <a:ext cx="8229600" cy="256032"/>
          </a:xfrm>
          <a:prstGeom prst="rect">
            <a:avLst/>
          </a:prstGeom>
          <a:noFill/>
          <a:ln/>
        </p:spPr>
        <p:txBody>
          <a:bodyPr wrap="square" rtlCol="0" anchor="ctr"/>
          <a:lstStyle/>
          <a:p>
            <a:pPr marL="0" indent="0">
              <a:buNone/>
            </a:pPr>
            <a:r>
              <a:rPr lang="en-US" sz="1400" b="1" dirty="0">
                <a:solidFill>
                  <a:srgbClr val="121B3A"/>
                </a:solidFill>
                <a:latin typeface="Calibri" pitchFamily="34" charset="0"/>
                <a:ea typeface="Calibri" pitchFamily="34" charset="-122"/>
                <a:cs typeface="Calibri" pitchFamily="34" charset="-120"/>
              </a:rPr>
              <a:t>¿Por qué configurar esto?</a:t>
            </a:r>
            <a:endParaRPr lang="en-US" sz="1400" dirty="0"/>
          </a:p>
        </p:txBody>
      </p:sp>
      <p:sp>
        <p:nvSpPr>
          <p:cNvPr id="11" name="Text 9"/>
          <p:cNvSpPr/>
          <p:nvPr/>
        </p:nvSpPr>
        <p:spPr>
          <a:xfrm>
            <a:off x="457200" y="3639311"/>
            <a:ext cx="8229600" cy="1036055"/>
          </a:xfrm>
          <a:prstGeom prst="rect">
            <a:avLst/>
          </a:prstGeom>
          <a:noFill/>
          <a:ln/>
        </p:spPr>
        <p:txBody>
          <a:bodyPr wrap="square" rtlCol="0" anchor="ctr"/>
          <a:lstStyle/>
          <a:p>
            <a:pPr marL="0" indent="0" algn="just">
              <a:buNone/>
            </a:pPr>
            <a:r>
              <a:rPr lang="en-US" sz="1600" b="1" dirty="0">
                <a:solidFill>
                  <a:srgbClr val="1A1A1A"/>
                </a:solidFill>
                <a:latin typeface="Calibri" pitchFamily="34" charset="0"/>
                <a:ea typeface="Calibri" pitchFamily="34" charset="-122"/>
                <a:cs typeface="Calibri" pitchFamily="34" charset="-120"/>
              </a:rPr>
              <a:t>Sin configuración:</a:t>
            </a:r>
            <a:r>
              <a:rPr lang="en-US" sz="1600" dirty="0">
                <a:solidFill>
                  <a:srgbClr val="1A1A1A"/>
                </a:solidFill>
                <a:latin typeface="Calibri" pitchFamily="34" charset="0"/>
                <a:ea typeface="Calibri" pitchFamily="34" charset="-122"/>
                <a:cs typeface="Calibri" pitchFamily="34" charset="-120"/>
              </a:rPr>
              <a:t> ChatGPT no sabe para quién escribes ni qué tono usar — el output es genérico.</a:t>
            </a:r>
            <a:endParaRPr lang="en-US" sz="1600" dirty="0"/>
          </a:p>
          <a:p>
            <a:pPr marL="0" indent="0" algn="just">
              <a:buNone/>
            </a:pPr>
            <a:r>
              <a:rPr lang="en-US" sz="1600" b="1" dirty="0">
                <a:solidFill>
                  <a:srgbClr val="1A1A1A"/>
                </a:solidFill>
                <a:latin typeface="Calibri" pitchFamily="34" charset="0"/>
                <a:ea typeface="Calibri" pitchFamily="34" charset="-122"/>
                <a:cs typeface="Calibri" pitchFamily="34" charset="-120"/>
              </a:rPr>
              <a:t>Con configuración:</a:t>
            </a:r>
            <a:endParaRPr lang="en-US" sz="1600" dirty="0"/>
          </a:p>
          <a:p>
            <a:pPr marL="0" indent="0" algn="just">
              <a:buNone/>
            </a:pPr>
            <a:r>
              <a:rPr lang="en-US" sz="1600" dirty="0">
                <a:solidFill>
                  <a:srgbClr val="1A1A1A"/>
                </a:solidFill>
                <a:latin typeface="Calibri" pitchFamily="34" charset="0"/>
                <a:ea typeface="Calibri" pitchFamily="34" charset="-122"/>
                <a:cs typeface="Calibri" pitchFamily="34" charset="-120"/>
              </a:rPr>
              <a:t> cada prompt que escribas ya tiene el contexto de EEA cargado automáticamente.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201168"/>
          </a:xfrm>
          <a:prstGeom prst="rect">
            <a:avLst/>
          </a:prstGeom>
          <a:noFill/>
          <a:ln/>
        </p:spPr>
        <p:txBody>
          <a:bodyPr wrap="square" rtlCol="0" anchor="ctr"/>
          <a:lstStyle/>
          <a:p>
            <a:pPr marL="0" indent="0">
              <a:buNone/>
            </a:pPr>
            <a:r>
              <a:rPr lang="en-US" sz="900" b="1" kern="0" spc="200" dirty="0">
                <a:solidFill>
                  <a:srgbClr val="F5C842"/>
                </a:solidFill>
                <a:latin typeface="Calibri" pitchFamily="34" charset="0"/>
                <a:ea typeface="Calibri" pitchFamily="34" charset="-122"/>
                <a:cs typeface="Calibri" pitchFamily="34" charset="-120"/>
              </a:rPr>
              <a:t>VITAMINAS TECNOLÓGICAS · CAPACITACIÓN IA</a:t>
            </a:r>
            <a:endParaRPr lang="en-US" sz="900" dirty="0"/>
          </a:p>
        </p:txBody>
      </p:sp>
      <p:sp>
        <p:nvSpPr>
          <p:cNvPr id="3" name="Text 1"/>
          <p:cNvSpPr/>
          <p:nvPr/>
        </p:nvSpPr>
        <p:spPr>
          <a:xfrm>
            <a:off x="6400800" y="4846320"/>
            <a:ext cx="2560320" cy="182880"/>
          </a:xfrm>
          <a:prstGeom prst="rect">
            <a:avLst/>
          </a:prstGeom>
          <a:noFill/>
          <a:ln/>
        </p:spPr>
        <p:txBody>
          <a:bodyPr wrap="square" rtlCol="0" anchor="ctr"/>
          <a:lstStyle/>
          <a:p>
            <a:pPr marL="0" indent="0" algn="r">
              <a:buNone/>
            </a:pPr>
            <a:r>
              <a:rPr lang="en-US" sz="800" dirty="0">
                <a:solidFill>
                  <a:srgbClr val="8899BB"/>
                </a:solidFill>
                <a:latin typeface="Calibri" pitchFamily="34" charset="0"/>
                <a:ea typeface="Calibri" pitchFamily="34" charset="-122"/>
                <a:cs typeface="Calibri" pitchFamily="34" charset="-120"/>
              </a:rPr>
              <a:t>BLOQUE 03</a:t>
            </a:r>
            <a:endParaRPr lang="en-US" sz="800" dirty="0"/>
          </a:p>
        </p:txBody>
      </p:sp>
      <p:sp>
        <p:nvSpPr>
          <p:cNvPr id="4" name="Shape 2"/>
          <p:cNvSpPr/>
          <p:nvPr/>
        </p:nvSpPr>
        <p:spPr>
          <a:xfrm>
            <a:off x="457200" y="411480"/>
            <a:ext cx="822960" cy="256032"/>
          </a:xfrm>
          <a:prstGeom prst="roundRect">
            <a:avLst>
              <a:gd name="adj" fmla="val 14286"/>
            </a:avLst>
          </a:prstGeom>
          <a:solidFill>
            <a:srgbClr val="F5C842"/>
          </a:solidFill>
          <a:ln/>
        </p:spPr>
        <p:txBody>
          <a:bodyPr/>
          <a:lstStyle/>
          <a:p>
            <a:endParaRPr lang="es-PE"/>
          </a:p>
        </p:txBody>
      </p:sp>
      <p:sp>
        <p:nvSpPr>
          <p:cNvPr id="5" name="Text 3"/>
          <p:cNvSpPr/>
          <p:nvPr/>
        </p:nvSpPr>
        <p:spPr>
          <a:xfrm>
            <a:off x="457200" y="420624"/>
            <a:ext cx="822960" cy="237744"/>
          </a:xfrm>
          <a:prstGeom prst="rect">
            <a:avLst/>
          </a:prstGeom>
          <a:noFill/>
          <a:ln/>
        </p:spPr>
        <p:txBody>
          <a:bodyPr wrap="square" lIns="0" tIns="0" rIns="0" bIns="0" rtlCol="0" anchor="ctr"/>
          <a:lstStyle/>
          <a:p>
            <a:pPr marL="0" indent="0" algn="ctr">
              <a:buNone/>
            </a:pPr>
            <a:r>
              <a:rPr lang="en-US" sz="900" b="1" dirty="0">
                <a:solidFill>
                  <a:srgbClr val="121B3A"/>
                </a:solidFill>
                <a:latin typeface="Calibri" pitchFamily="34" charset="0"/>
                <a:ea typeface="Calibri" pitchFamily="34" charset="-122"/>
                <a:cs typeface="Calibri" pitchFamily="34" charset="-120"/>
              </a:rPr>
              <a:t>03 //</a:t>
            </a:r>
            <a:endParaRPr lang="en-US" sz="900" dirty="0"/>
          </a:p>
        </p:txBody>
      </p:sp>
      <p:sp>
        <p:nvSpPr>
          <p:cNvPr id="6" name="Text 4"/>
          <p:cNvSpPr/>
          <p:nvPr/>
        </p:nvSpPr>
        <p:spPr>
          <a:xfrm>
            <a:off x="457200" y="731520"/>
            <a:ext cx="8229600" cy="384048"/>
          </a:xfrm>
          <a:prstGeom prst="rect">
            <a:avLst/>
          </a:prstGeom>
          <a:noFill/>
          <a:ln/>
        </p:spPr>
        <p:txBody>
          <a:bodyPr wrap="square" rtlCol="0" anchor="ctr"/>
          <a:lstStyle/>
          <a:p>
            <a:pPr marL="0" indent="0">
              <a:buNone/>
            </a:pPr>
            <a:r>
              <a:rPr lang="en-US" sz="2400" b="1" dirty="0">
                <a:solidFill>
                  <a:srgbClr val="121B3A"/>
                </a:solidFill>
                <a:latin typeface="Cambria" pitchFamily="34" charset="0"/>
                <a:ea typeface="Cambria" pitchFamily="34" charset="-122"/>
                <a:cs typeface="Cambria" pitchFamily="34" charset="-120"/>
              </a:rPr>
              <a:t>Prompt genérico vs. prompt situacional</a:t>
            </a:r>
            <a:endParaRPr lang="en-US" sz="2400" dirty="0"/>
          </a:p>
        </p:txBody>
      </p:sp>
      <p:sp>
        <p:nvSpPr>
          <p:cNvPr id="7" name="Text 5"/>
          <p:cNvSpPr/>
          <p:nvPr/>
        </p:nvSpPr>
        <p:spPr>
          <a:xfrm>
            <a:off x="457200" y="1170432"/>
            <a:ext cx="8229600" cy="256032"/>
          </a:xfrm>
          <a:prstGeom prst="rect">
            <a:avLst/>
          </a:prstGeom>
          <a:noFill/>
          <a:ln/>
        </p:spPr>
        <p:txBody>
          <a:bodyPr wrap="square" rtlCol="0" anchor="ctr"/>
          <a:lstStyle/>
          <a:p>
            <a:pPr marL="0" indent="0">
              <a:buNone/>
            </a:pPr>
            <a:r>
              <a:rPr lang="en-US" sz="1400" dirty="0">
                <a:solidFill>
                  <a:srgbClr val="5A5F73"/>
                </a:solidFill>
                <a:latin typeface="Calibri" pitchFamily="34" charset="0"/>
                <a:ea typeface="Calibri" pitchFamily="34" charset="-122"/>
                <a:cs typeface="Calibri" pitchFamily="34" charset="-120"/>
              </a:rPr>
              <a:t>Ejecutamos ambos en vivo en ChatGPT y Gemini. Observa la diferencia sin opinar — deja que el output lo muestre.</a:t>
            </a:r>
            <a:endParaRPr lang="en-US" sz="1400" dirty="0"/>
          </a:p>
        </p:txBody>
      </p:sp>
      <p:sp>
        <p:nvSpPr>
          <p:cNvPr id="8" name="Shape 6"/>
          <p:cNvSpPr/>
          <p:nvPr/>
        </p:nvSpPr>
        <p:spPr>
          <a:xfrm>
            <a:off x="481053" y="1723444"/>
            <a:ext cx="1097280" cy="219456"/>
          </a:xfrm>
          <a:prstGeom prst="roundRect">
            <a:avLst>
              <a:gd name="adj" fmla="val 16667"/>
            </a:avLst>
          </a:prstGeom>
          <a:solidFill>
            <a:srgbClr val="FBE6E8"/>
          </a:solidFill>
          <a:ln/>
        </p:spPr>
        <p:txBody>
          <a:bodyPr/>
          <a:lstStyle/>
          <a:p>
            <a:endParaRPr lang="es-PE" sz="2800"/>
          </a:p>
        </p:txBody>
      </p:sp>
      <p:sp>
        <p:nvSpPr>
          <p:cNvPr id="9" name="Text 7"/>
          <p:cNvSpPr/>
          <p:nvPr/>
        </p:nvSpPr>
        <p:spPr>
          <a:xfrm>
            <a:off x="481053" y="1728016"/>
            <a:ext cx="1097280" cy="210312"/>
          </a:xfrm>
          <a:prstGeom prst="rect">
            <a:avLst/>
          </a:prstGeom>
          <a:noFill/>
          <a:ln/>
        </p:spPr>
        <p:txBody>
          <a:bodyPr wrap="square" lIns="0" tIns="0" rIns="0" bIns="0" rtlCol="0" anchor="ctr"/>
          <a:lstStyle/>
          <a:p>
            <a:pPr marL="0" indent="0" algn="ctr">
              <a:buNone/>
            </a:pPr>
            <a:r>
              <a:rPr lang="en-US" sz="1050" b="1" dirty="0">
                <a:solidFill>
                  <a:srgbClr val="C8434E"/>
                </a:solidFill>
                <a:latin typeface="Calibri" pitchFamily="34" charset="0"/>
                <a:ea typeface="Calibri" pitchFamily="34" charset="-122"/>
                <a:cs typeface="Calibri" pitchFamily="34" charset="-120"/>
              </a:rPr>
              <a:t>SIN CONTEXTO</a:t>
            </a:r>
            <a:endParaRPr lang="en-US" sz="1050" dirty="0"/>
          </a:p>
        </p:txBody>
      </p:sp>
      <p:sp>
        <p:nvSpPr>
          <p:cNvPr id="10" name="Shape 8"/>
          <p:cNvSpPr/>
          <p:nvPr/>
        </p:nvSpPr>
        <p:spPr>
          <a:xfrm>
            <a:off x="481053" y="1997764"/>
            <a:ext cx="36576" cy="502920"/>
          </a:xfrm>
          <a:prstGeom prst="rect">
            <a:avLst/>
          </a:prstGeom>
          <a:solidFill>
            <a:srgbClr val="C8434E"/>
          </a:solidFill>
          <a:ln w="12700">
            <a:solidFill>
              <a:srgbClr val="C8434E"/>
            </a:solidFill>
            <a:prstDash val="solid"/>
          </a:ln>
        </p:spPr>
        <p:txBody>
          <a:bodyPr/>
          <a:lstStyle/>
          <a:p>
            <a:endParaRPr lang="es-PE" sz="2800"/>
          </a:p>
        </p:txBody>
      </p:sp>
      <p:sp>
        <p:nvSpPr>
          <p:cNvPr id="11" name="Shape 9"/>
          <p:cNvSpPr/>
          <p:nvPr/>
        </p:nvSpPr>
        <p:spPr>
          <a:xfrm>
            <a:off x="517629" y="1997764"/>
            <a:ext cx="8193024" cy="502920"/>
          </a:xfrm>
          <a:prstGeom prst="rect">
            <a:avLst/>
          </a:prstGeom>
          <a:solidFill>
            <a:srgbClr val="F7F7F9"/>
          </a:solidFill>
          <a:ln w="12700">
            <a:solidFill>
              <a:srgbClr val="E5E5EA"/>
            </a:solidFill>
            <a:prstDash val="solid"/>
          </a:ln>
        </p:spPr>
        <p:txBody>
          <a:bodyPr/>
          <a:lstStyle/>
          <a:p>
            <a:endParaRPr lang="es-PE" sz="2800"/>
          </a:p>
        </p:txBody>
      </p:sp>
      <p:sp>
        <p:nvSpPr>
          <p:cNvPr id="12" name="Text 10"/>
          <p:cNvSpPr/>
          <p:nvPr/>
        </p:nvSpPr>
        <p:spPr>
          <a:xfrm>
            <a:off x="609069" y="2070916"/>
            <a:ext cx="8046720" cy="356616"/>
          </a:xfrm>
          <a:prstGeom prst="rect">
            <a:avLst/>
          </a:prstGeom>
          <a:noFill/>
          <a:ln/>
        </p:spPr>
        <p:txBody>
          <a:bodyPr wrap="square" rtlCol="0" anchor="t"/>
          <a:lstStyle/>
          <a:p>
            <a:pPr marL="0" indent="0">
              <a:buNone/>
            </a:pPr>
            <a:r>
              <a:rPr lang="en-US" sz="1600" dirty="0">
                <a:solidFill>
                  <a:srgbClr val="1A1A1A"/>
                </a:solidFill>
                <a:latin typeface="Calibri" pitchFamily="34" charset="0"/>
                <a:ea typeface="Calibri" pitchFamily="34" charset="-122"/>
                <a:cs typeface="Calibri" pitchFamily="34" charset="-120"/>
              </a:rPr>
              <a:t>"Escribe 3 captions para un webinar de estética"</a:t>
            </a:r>
            <a:endParaRPr lang="en-US" sz="1600" dirty="0"/>
          </a:p>
        </p:txBody>
      </p:sp>
      <p:sp>
        <p:nvSpPr>
          <p:cNvPr id="13" name="Shape 11"/>
          <p:cNvSpPr/>
          <p:nvPr/>
        </p:nvSpPr>
        <p:spPr>
          <a:xfrm>
            <a:off x="481053" y="2592124"/>
            <a:ext cx="1188720" cy="219456"/>
          </a:xfrm>
          <a:prstGeom prst="roundRect">
            <a:avLst>
              <a:gd name="adj" fmla="val 16667"/>
            </a:avLst>
          </a:prstGeom>
          <a:solidFill>
            <a:srgbClr val="E6F4EA"/>
          </a:solidFill>
          <a:ln/>
        </p:spPr>
        <p:txBody>
          <a:bodyPr/>
          <a:lstStyle/>
          <a:p>
            <a:endParaRPr lang="es-PE" sz="2400"/>
          </a:p>
        </p:txBody>
      </p:sp>
      <p:sp>
        <p:nvSpPr>
          <p:cNvPr id="14" name="Text 12"/>
          <p:cNvSpPr/>
          <p:nvPr/>
        </p:nvSpPr>
        <p:spPr>
          <a:xfrm>
            <a:off x="481053" y="2596696"/>
            <a:ext cx="1188720" cy="210312"/>
          </a:xfrm>
          <a:prstGeom prst="rect">
            <a:avLst/>
          </a:prstGeom>
          <a:noFill/>
          <a:ln/>
        </p:spPr>
        <p:txBody>
          <a:bodyPr wrap="square" lIns="0" tIns="0" rIns="0" bIns="0" rtlCol="0" anchor="ctr"/>
          <a:lstStyle/>
          <a:p>
            <a:pPr marL="0" indent="0" algn="ctr">
              <a:buNone/>
            </a:pPr>
            <a:r>
              <a:rPr lang="en-US" sz="1000" b="1" dirty="0">
                <a:solidFill>
                  <a:srgbClr val="1E7A34"/>
                </a:solidFill>
                <a:latin typeface="Calibri" pitchFamily="34" charset="0"/>
                <a:ea typeface="Calibri" pitchFamily="34" charset="-122"/>
                <a:cs typeface="Calibri" pitchFamily="34" charset="-120"/>
              </a:rPr>
              <a:t>CON DATOS REALES</a:t>
            </a:r>
            <a:endParaRPr lang="en-US" sz="1000" dirty="0"/>
          </a:p>
        </p:txBody>
      </p:sp>
      <p:sp>
        <p:nvSpPr>
          <p:cNvPr id="15" name="Shape 13"/>
          <p:cNvSpPr/>
          <p:nvPr/>
        </p:nvSpPr>
        <p:spPr>
          <a:xfrm>
            <a:off x="481053" y="2866444"/>
            <a:ext cx="36576" cy="1234440"/>
          </a:xfrm>
          <a:prstGeom prst="rect">
            <a:avLst/>
          </a:prstGeom>
          <a:solidFill>
            <a:srgbClr val="1E7A34"/>
          </a:solidFill>
          <a:ln w="12700">
            <a:solidFill>
              <a:srgbClr val="1E7A34"/>
            </a:solidFill>
            <a:prstDash val="solid"/>
          </a:ln>
        </p:spPr>
        <p:txBody>
          <a:bodyPr/>
          <a:lstStyle/>
          <a:p>
            <a:endParaRPr lang="es-PE" sz="2400"/>
          </a:p>
        </p:txBody>
      </p:sp>
      <p:sp>
        <p:nvSpPr>
          <p:cNvPr id="16" name="Shape 14"/>
          <p:cNvSpPr/>
          <p:nvPr/>
        </p:nvSpPr>
        <p:spPr>
          <a:xfrm>
            <a:off x="517629" y="2866444"/>
            <a:ext cx="8193024" cy="1234440"/>
          </a:xfrm>
          <a:prstGeom prst="rect">
            <a:avLst/>
          </a:prstGeom>
          <a:solidFill>
            <a:srgbClr val="F7F7F9"/>
          </a:solidFill>
          <a:ln w="12700">
            <a:solidFill>
              <a:srgbClr val="E5E5EA"/>
            </a:solidFill>
            <a:prstDash val="solid"/>
          </a:ln>
        </p:spPr>
        <p:txBody>
          <a:bodyPr/>
          <a:lstStyle/>
          <a:p>
            <a:endParaRPr lang="es-PE" sz="2400"/>
          </a:p>
        </p:txBody>
      </p:sp>
      <p:sp>
        <p:nvSpPr>
          <p:cNvPr id="17" name="Text 15"/>
          <p:cNvSpPr/>
          <p:nvPr/>
        </p:nvSpPr>
        <p:spPr>
          <a:xfrm>
            <a:off x="609069" y="2939596"/>
            <a:ext cx="8046720" cy="1088136"/>
          </a:xfrm>
          <a:prstGeom prst="rect">
            <a:avLst/>
          </a:prstGeom>
          <a:noFill/>
          <a:ln/>
        </p:spPr>
        <p:txBody>
          <a:bodyPr wrap="square" rtlCol="0" anchor="t"/>
          <a:lstStyle/>
          <a:p>
            <a:pPr marL="0" indent="0">
              <a:buNone/>
            </a:pPr>
            <a:r>
              <a:rPr lang="en-US" sz="1400" dirty="0">
                <a:solidFill>
                  <a:srgbClr val="1A1A1A"/>
                </a:solidFill>
                <a:latin typeface="Calibri" pitchFamily="34" charset="0"/>
                <a:ea typeface="Calibri" pitchFamily="34" charset="-122"/>
                <a:cs typeface="Calibri" pitchFamily="34" charset="-120"/>
              </a:rPr>
              <a:t>Eres redactora de contenido para Elite Expert Academy. Webinar: 'Maquillaje Semipermanente: Técnica y Negocio'. Público: esteticistas 1-3 años de experiencia. Dolor: no saben rentabilizar la técnica. CTA: 'Regístrate gratis — cupos limitados'. Escribe 3 captions para Instagram: urgencia, transformación y comunidad. 150-220 caracteres. Sin hashtags.</a:t>
            </a:r>
            <a:endParaRPr lang="en-US" sz="1400" dirty="0"/>
          </a:p>
        </p:txBody>
      </p:sp>
      <p:sp>
        <p:nvSpPr>
          <p:cNvPr id="18" name="Text 16"/>
          <p:cNvSpPr/>
          <p:nvPr/>
        </p:nvSpPr>
        <p:spPr>
          <a:xfrm>
            <a:off x="481053" y="4201468"/>
            <a:ext cx="8229600" cy="256032"/>
          </a:xfrm>
          <a:prstGeom prst="rect">
            <a:avLst/>
          </a:prstGeom>
          <a:noFill/>
          <a:ln/>
        </p:spPr>
        <p:txBody>
          <a:bodyPr wrap="square" rtlCol="0" anchor="ctr"/>
          <a:lstStyle/>
          <a:p>
            <a:pPr marL="0" indent="0" algn="ctr">
              <a:buNone/>
            </a:pPr>
            <a:r>
              <a:rPr lang="en-US" sz="1600" b="1" dirty="0">
                <a:solidFill>
                  <a:srgbClr val="121B3A"/>
                </a:solidFill>
                <a:latin typeface="Calibri" pitchFamily="34" charset="0"/>
                <a:ea typeface="Calibri" pitchFamily="34" charset="-122"/>
                <a:cs typeface="Calibri" pitchFamily="34" charset="-120"/>
              </a:rPr>
              <a:t>¿Cuál necesita menos edición antes de publicarse?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B3A"/>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201168"/>
          </a:xfrm>
          <a:prstGeom prst="rect">
            <a:avLst/>
          </a:prstGeom>
          <a:noFill/>
          <a:ln/>
        </p:spPr>
        <p:txBody>
          <a:bodyPr wrap="square" rtlCol="0" anchor="ctr"/>
          <a:lstStyle/>
          <a:p>
            <a:pPr marL="0" indent="0">
              <a:buNone/>
            </a:pPr>
            <a:r>
              <a:rPr lang="en-US" sz="900" b="1" kern="0" spc="200" dirty="0">
                <a:solidFill>
                  <a:srgbClr val="F5C842"/>
                </a:solidFill>
                <a:latin typeface="Calibri" pitchFamily="34" charset="0"/>
                <a:ea typeface="Calibri" pitchFamily="34" charset="-122"/>
                <a:cs typeface="Calibri" pitchFamily="34" charset="-120"/>
              </a:rPr>
              <a:t>VITAMINAS TECNOLÓGICAS · CAPACITACIÓN IA</a:t>
            </a:r>
            <a:endParaRPr lang="en-US" sz="900" dirty="0"/>
          </a:p>
        </p:txBody>
      </p:sp>
      <p:sp>
        <p:nvSpPr>
          <p:cNvPr id="3" name="Text 1"/>
          <p:cNvSpPr/>
          <p:nvPr/>
        </p:nvSpPr>
        <p:spPr>
          <a:xfrm>
            <a:off x="6400800" y="4846320"/>
            <a:ext cx="2560320" cy="182880"/>
          </a:xfrm>
          <a:prstGeom prst="rect">
            <a:avLst/>
          </a:prstGeom>
          <a:noFill/>
          <a:ln/>
        </p:spPr>
        <p:txBody>
          <a:bodyPr wrap="square" rtlCol="0" anchor="ctr"/>
          <a:lstStyle/>
          <a:p>
            <a:pPr marL="0" indent="0" algn="r">
              <a:buNone/>
            </a:pPr>
            <a:r>
              <a:rPr lang="en-US" sz="800" dirty="0">
                <a:solidFill>
                  <a:srgbClr val="8899BB"/>
                </a:solidFill>
                <a:latin typeface="Calibri" pitchFamily="34" charset="0"/>
                <a:ea typeface="Calibri" pitchFamily="34" charset="-122"/>
                <a:cs typeface="Calibri" pitchFamily="34" charset="-120"/>
              </a:rPr>
              <a:t>BLOQUE 04</a:t>
            </a:r>
            <a:endParaRPr lang="en-US" sz="800" dirty="0"/>
          </a:p>
        </p:txBody>
      </p:sp>
      <p:sp>
        <p:nvSpPr>
          <p:cNvPr id="4" name="Shape 2"/>
          <p:cNvSpPr/>
          <p:nvPr/>
        </p:nvSpPr>
        <p:spPr>
          <a:xfrm>
            <a:off x="457200" y="411480"/>
            <a:ext cx="822960" cy="256032"/>
          </a:xfrm>
          <a:prstGeom prst="roundRect">
            <a:avLst>
              <a:gd name="adj" fmla="val 14286"/>
            </a:avLst>
          </a:prstGeom>
          <a:solidFill>
            <a:srgbClr val="F5C842"/>
          </a:solidFill>
          <a:ln/>
        </p:spPr>
        <p:txBody>
          <a:bodyPr/>
          <a:lstStyle/>
          <a:p>
            <a:endParaRPr lang="es-PE"/>
          </a:p>
        </p:txBody>
      </p:sp>
      <p:sp>
        <p:nvSpPr>
          <p:cNvPr id="5" name="Text 3"/>
          <p:cNvSpPr/>
          <p:nvPr/>
        </p:nvSpPr>
        <p:spPr>
          <a:xfrm>
            <a:off x="457200" y="420624"/>
            <a:ext cx="822960" cy="237744"/>
          </a:xfrm>
          <a:prstGeom prst="rect">
            <a:avLst/>
          </a:prstGeom>
          <a:noFill/>
          <a:ln/>
        </p:spPr>
        <p:txBody>
          <a:bodyPr wrap="square" lIns="0" tIns="0" rIns="0" bIns="0" rtlCol="0" anchor="ctr"/>
          <a:lstStyle/>
          <a:p>
            <a:pPr marL="0" indent="0" algn="ctr">
              <a:buNone/>
            </a:pPr>
            <a:r>
              <a:rPr lang="en-US" sz="900" b="1" dirty="0">
                <a:solidFill>
                  <a:srgbClr val="121B3A"/>
                </a:solidFill>
                <a:latin typeface="Calibri" pitchFamily="34" charset="0"/>
                <a:ea typeface="Calibri" pitchFamily="34" charset="-122"/>
                <a:cs typeface="Calibri" pitchFamily="34" charset="-120"/>
              </a:rPr>
              <a:t>04 //</a:t>
            </a:r>
            <a:endParaRPr lang="en-US" sz="900" dirty="0"/>
          </a:p>
        </p:txBody>
      </p:sp>
      <p:sp>
        <p:nvSpPr>
          <p:cNvPr id="6" name="Text 4"/>
          <p:cNvSpPr/>
          <p:nvPr/>
        </p:nvSpPr>
        <p:spPr>
          <a:xfrm>
            <a:off x="457200" y="749808"/>
            <a:ext cx="8229600" cy="420624"/>
          </a:xfrm>
          <a:prstGeom prst="rect">
            <a:avLst/>
          </a:prstGeom>
          <a:noFill/>
          <a:ln/>
        </p:spPr>
        <p:txBody>
          <a:bodyPr wrap="square"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Brief de campaña</a:t>
            </a:r>
            <a:endParaRPr lang="en-US" sz="3600" dirty="0"/>
          </a:p>
        </p:txBody>
      </p:sp>
      <p:sp>
        <p:nvSpPr>
          <p:cNvPr id="7" name="Text 5"/>
          <p:cNvSpPr/>
          <p:nvPr/>
        </p:nvSpPr>
        <p:spPr>
          <a:xfrm>
            <a:off x="457200" y="1216152"/>
            <a:ext cx="8229600" cy="256032"/>
          </a:xfrm>
          <a:prstGeom prst="rect">
            <a:avLst/>
          </a:prstGeom>
          <a:noFill/>
          <a:ln/>
        </p:spPr>
        <p:txBody>
          <a:bodyPr wrap="square" rtlCol="0" anchor="ctr"/>
          <a:lstStyle/>
          <a:p>
            <a:pPr marL="0" indent="0">
              <a:buNone/>
            </a:pPr>
            <a:r>
              <a:rPr lang="en-US" sz="1600" dirty="0">
                <a:solidFill>
                  <a:srgbClr val="F5C842"/>
                </a:solidFill>
                <a:latin typeface="Calibri" pitchFamily="34" charset="0"/>
                <a:ea typeface="Calibri" pitchFamily="34" charset="-122"/>
                <a:cs typeface="Calibri" pitchFamily="34" charset="-120"/>
              </a:rPr>
              <a:t>Webinar: «Maquillaje Semipermanente: Técnica y Negocio»  ·  Jueves 26 de junio · 7:00 PM</a:t>
            </a:r>
            <a:endParaRPr lang="en-US" sz="1600" dirty="0"/>
          </a:p>
        </p:txBody>
      </p:sp>
      <p:sp>
        <p:nvSpPr>
          <p:cNvPr id="8" name="Text 6"/>
          <p:cNvSpPr/>
          <p:nvPr/>
        </p:nvSpPr>
        <p:spPr>
          <a:xfrm>
            <a:off x="457200" y="1600200"/>
            <a:ext cx="4023360" cy="201168"/>
          </a:xfrm>
          <a:prstGeom prst="rect">
            <a:avLst/>
          </a:prstGeom>
          <a:noFill/>
          <a:ln/>
        </p:spPr>
        <p:txBody>
          <a:bodyPr wrap="square" rtlCol="0" anchor="ctr"/>
          <a:lstStyle/>
          <a:p>
            <a:pPr marL="0" indent="0">
              <a:buNone/>
            </a:pPr>
            <a:r>
              <a:rPr lang="en-US" sz="1200" b="1" dirty="0">
                <a:solidFill>
                  <a:srgbClr val="F5C842"/>
                </a:solidFill>
                <a:latin typeface="Calibri" pitchFamily="34" charset="0"/>
                <a:ea typeface="Calibri" pitchFamily="34" charset="-122"/>
                <a:cs typeface="Calibri" pitchFamily="34" charset="-120"/>
              </a:rPr>
              <a:t>Público objetivo</a:t>
            </a:r>
            <a:endParaRPr lang="en-US" sz="1200" dirty="0"/>
          </a:p>
        </p:txBody>
      </p:sp>
      <p:sp>
        <p:nvSpPr>
          <p:cNvPr id="9" name="Text 7"/>
          <p:cNvSpPr/>
          <p:nvPr/>
        </p:nvSpPr>
        <p:spPr>
          <a:xfrm>
            <a:off x="457200" y="1819656"/>
            <a:ext cx="4023360" cy="384048"/>
          </a:xfrm>
          <a:prstGeom prst="rect">
            <a:avLst/>
          </a:prstGeom>
          <a:noFill/>
          <a:ln/>
        </p:spPr>
        <p:txBody>
          <a:bodyPr wrap="square" rtlCol="0" anchor="ctr"/>
          <a:lstStyle/>
          <a:p>
            <a:pPr marL="0" indent="0">
              <a:buNone/>
            </a:pPr>
            <a:r>
              <a:rPr lang="en-US" sz="1600" dirty="0">
                <a:solidFill>
                  <a:srgbClr val="D0D6EE"/>
                </a:solidFill>
                <a:latin typeface="Calibri" pitchFamily="34" charset="0"/>
                <a:ea typeface="Calibri" pitchFamily="34" charset="-122"/>
                <a:cs typeface="Calibri" pitchFamily="34" charset="-120"/>
              </a:rPr>
              <a:t>Esteticistas con 1-3 años de experiencia</a:t>
            </a:r>
            <a:endParaRPr lang="en-US" sz="1600" dirty="0"/>
          </a:p>
        </p:txBody>
      </p:sp>
      <p:sp>
        <p:nvSpPr>
          <p:cNvPr id="10" name="Text 8"/>
          <p:cNvSpPr/>
          <p:nvPr/>
        </p:nvSpPr>
        <p:spPr>
          <a:xfrm>
            <a:off x="457200" y="2313432"/>
            <a:ext cx="4023360" cy="201168"/>
          </a:xfrm>
          <a:prstGeom prst="rect">
            <a:avLst/>
          </a:prstGeom>
          <a:noFill/>
          <a:ln/>
        </p:spPr>
        <p:txBody>
          <a:bodyPr wrap="square" rtlCol="0" anchor="ctr"/>
          <a:lstStyle/>
          <a:p>
            <a:pPr marL="0" indent="0">
              <a:buNone/>
            </a:pPr>
            <a:r>
              <a:rPr lang="en-US" sz="1200" b="1" dirty="0">
                <a:solidFill>
                  <a:srgbClr val="F5C842"/>
                </a:solidFill>
                <a:latin typeface="Calibri" pitchFamily="34" charset="0"/>
                <a:ea typeface="Calibri" pitchFamily="34" charset="-122"/>
                <a:cs typeface="Calibri" pitchFamily="34" charset="-120"/>
              </a:rPr>
              <a:t>Dolor principal</a:t>
            </a:r>
            <a:endParaRPr lang="en-US" sz="1200" dirty="0"/>
          </a:p>
        </p:txBody>
      </p:sp>
      <p:sp>
        <p:nvSpPr>
          <p:cNvPr id="11" name="Text 9"/>
          <p:cNvSpPr/>
          <p:nvPr/>
        </p:nvSpPr>
        <p:spPr>
          <a:xfrm>
            <a:off x="457200" y="2532888"/>
            <a:ext cx="4023360" cy="384048"/>
          </a:xfrm>
          <a:prstGeom prst="rect">
            <a:avLst/>
          </a:prstGeom>
          <a:noFill/>
          <a:ln/>
        </p:spPr>
        <p:txBody>
          <a:bodyPr wrap="square" rtlCol="0" anchor="ctr"/>
          <a:lstStyle/>
          <a:p>
            <a:pPr marL="0" indent="0">
              <a:buNone/>
            </a:pPr>
            <a:r>
              <a:rPr lang="en-US" sz="1600" dirty="0">
                <a:solidFill>
                  <a:srgbClr val="D0D6EE"/>
                </a:solidFill>
                <a:latin typeface="Calibri" pitchFamily="34" charset="0"/>
                <a:ea typeface="Calibri" pitchFamily="34" charset="-122"/>
                <a:cs typeface="Calibri" pitchFamily="34" charset="-120"/>
              </a:rPr>
              <a:t>Invierten en cursos pero no saben rentabilizar la técnica</a:t>
            </a:r>
            <a:endParaRPr lang="en-US" sz="1600" dirty="0"/>
          </a:p>
        </p:txBody>
      </p:sp>
      <p:sp>
        <p:nvSpPr>
          <p:cNvPr id="12" name="Text 10"/>
          <p:cNvSpPr/>
          <p:nvPr/>
        </p:nvSpPr>
        <p:spPr>
          <a:xfrm>
            <a:off x="457200" y="3026664"/>
            <a:ext cx="4023360" cy="201168"/>
          </a:xfrm>
          <a:prstGeom prst="rect">
            <a:avLst/>
          </a:prstGeom>
          <a:noFill/>
          <a:ln/>
        </p:spPr>
        <p:txBody>
          <a:bodyPr wrap="square" rtlCol="0" anchor="ctr"/>
          <a:lstStyle/>
          <a:p>
            <a:pPr marL="0" indent="0">
              <a:buNone/>
            </a:pPr>
            <a:r>
              <a:rPr lang="en-US" sz="1200" b="1" dirty="0">
                <a:solidFill>
                  <a:srgbClr val="F5C842"/>
                </a:solidFill>
                <a:latin typeface="Calibri" pitchFamily="34" charset="0"/>
                <a:ea typeface="Calibri" pitchFamily="34" charset="-122"/>
                <a:cs typeface="Calibri" pitchFamily="34" charset="-120"/>
              </a:rPr>
              <a:t>Beneficio principal</a:t>
            </a:r>
            <a:endParaRPr lang="en-US" sz="1200" dirty="0"/>
          </a:p>
        </p:txBody>
      </p:sp>
      <p:sp>
        <p:nvSpPr>
          <p:cNvPr id="13" name="Text 11"/>
          <p:cNvSpPr/>
          <p:nvPr/>
        </p:nvSpPr>
        <p:spPr>
          <a:xfrm>
            <a:off x="457200" y="3246120"/>
            <a:ext cx="4023360" cy="384048"/>
          </a:xfrm>
          <a:prstGeom prst="rect">
            <a:avLst/>
          </a:prstGeom>
          <a:noFill/>
          <a:ln/>
        </p:spPr>
        <p:txBody>
          <a:bodyPr wrap="square" rtlCol="0" anchor="ctr"/>
          <a:lstStyle/>
          <a:p>
            <a:pPr marL="0" indent="0">
              <a:buNone/>
            </a:pPr>
            <a:r>
              <a:rPr lang="en-US" sz="1600" dirty="0">
                <a:solidFill>
                  <a:srgbClr val="D0D6EE"/>
                </a:solidFill>
                <a:latin typeface="Calibri" pitchFamily="34" charset="0"/>
                <a:ea typeface="Calibri" pitchFamily="34" charset="-122"/>
                <a:cs typeface="Calibri" pitchFamily="34" charset="-120"/>
              </a:rPr>
              <a:t>Aprenden la técnica y cómo estructurar precios para atraer clientas</a:t>
            </a:r>
            <a:endParaRPr lang="en-US" sz="1600" dirty="0"/>
          </a:p>
        </p:txBody>
      </p:sp>
      <p:sp>
        <p:nvSpPr>
          <p:cNvPr id="14" name="Text 12"/>
          <p:cNvSpPr/>
          <p:nvPr/>
        </p:nvSpPr>
        <p:spPr>
          <a:xfrm>
            <a:off x="457200" y="3739896"/>
            <a:ext cx="4023360" cy="201168"/>
          </a:xfrm>
          <a:prstGeom prst="rect">
            <a:avLst/>
          </a:prstGeom>
          <a:noFill/>
          <a:ln/>
        </p:spPr>
        <p:txBody>
          <a:bodyPr wrap="square" rtlCol="0" anchor="ctr"/>
          <a:lstStyle/>
          <a:p>
            <a:pPr marL="0" indent="0">
              <a:buNone/>
            </a:pPr>
            <a:r>
              <a:rPr lang="en-US" sz="1200" b="1" dirty="0">
                <a:solidFill>
                  <a:srgbClr val="F5C842"/>
                </a:solidFill>
                <a:latin typeface="Calibri" pitchFamily="34" charset="0"/>
                <a:ea typeface="Calibri" pitchFamily="34" charset="-122"/>
                <a:cs typeface="Calibri" pitchFamily="34" charset="-120"/>
              </a:rPr>
              <a:t>CTA principal</a:t>
            </a:r>
            <a:endParaRPr lang="en-US" sz="1200" dirty="0"/>
          </a:p>
        </p:txBody>
      </p:sp>
      <p:sp>
        <p:nvSpPr>
          <p:cNvPr id="15" name="Text 13"/>
          <p:cNvSpPr/>
          <p:nvPr/>
        </p:nvSpPr>
        <p:spPr>
          <a:xfrm>
            <a:off x="457200" y="3959352"/>
            <a:ext cx="4023360" cy="384048"/>
          </a:xfrm>
          <a:prstGeom prst="rect">
            <a:avLst/>
          </a:prstGeom>
          <a:noFill/>
          <a:ln/>
        </p:spPr>
        <p:txBody>
          <a:bodyPr wrap="square" rtlCol="0" anchor="ctr"/>
          <a:lstStyle/>
          <a:p>
            <a:pPr marL="0" indent="0">
              <a:buNone/>
            </a:pPr>
            <a:r>
              <a:rPr lang="en-US" sz="1600" dirty="0">
                <a:solidFill>
                  <a:srgbClr val="D0D6EE"/>
                </a:solidFill>
                <a:latin typeface="Calibri" pitchFamily="34" charset="0"/>
                <a:ea typeface="Calibri" pitchFamily="34" charset="-122"/>
                <a:cs typeface="Calibri" pitchFamily="34" charset="-120"/>
              </a:rPr>
              <a:t>"Regístrate gratis — cupos limitados"</a:t>
            </a:r>
            <a:endParaRPr lang="en-US" sz="1600" dirty="0"/>
          </a:p>
        </p:txBody>
      </p:sp>
      <p:sp>
        <p:nvSpPr>
          <p:cNvPr id="16" name="Text 14"/>
          <p:cNvSpPr/>
          <p:nvPr/>
        </p:nvSpPr>
        <p:spPr>
          <a:xfrm>
            <a:off x="4754880" y="1600200"/>
            <a:ext cx="4023360" cy="201168"/>
          </a:xfrm>
          <a:prstGeom prst="rect">
            <a:avLst/>
          </a:prstGeom>
          <a:noFill/>
          <a:ln/>
        </p:spPr>
        <p:txBody>
          <a:bodyPr wrap="square" rtlCol="0" anchor="ctr"/>
          <a:lstStyle/>
          <a:p>
            <a:pPr marL="0" indent="0">
              <a:buNone/>
            </a:pPr>
            <a:r>
              <a:rPr lang="en-US" sz="1200" b="1" dirty="0">
                <a:solidFill>
                  <a:srgbClr val="F5C842"/>
                </a:solidFill>
                <a:latin typeface="Calibri" pitchFamily="34" charset="0"/>
                <a:ea typeface="Calibri" pitchFamily="34" charset="-122"/>
                <a:cs typeface="Calibri" pitchFamily="34" charset="-120"/>
              </a:rPr>
              <a:t>Ángulo A</a:t>
            </a:r>
            <a:endParaRPr lang="en-US" sz="1200" dirty="0"/>
          </a:p>
        </p:txBody>
      </p:sp>
      <p:sp>
        <p:nvSpPr>
          <p:cNvPr id="17" name="Text 15"/>
          <p:cNvSpPr/>
          <p:nvPr/>
        </p:nvSpPr>
        <p:spPr>
          <a:xfrm>
            <a:off x="4754880" y="1819656"/>
            <a:ext cx="4023360" cy="384048"/>
          </a:xfrm>
          <a:prstGeom prst="rect">
            <a:avLst/>
          </a:prstGeom>
          <a:noFill/>
          <a:ln/>
        </p:spPr>
        <p:txBody>
          <a:bodyPr wrap="square" rtlCol="0" anchor="ctr"/>
          <a:lstStyle/>
          <a:p>
            <a:pPr marL="0" indent="0">
              <a:buNone/>
            </a:pPr>
            <a:r>
              <a:rPr lang="en-US" sz="1600" dirty="0">
                <a:solidFill>
                  <a:srgbClr val="D0D6EE"/>
                </a:solidFill>
                <a:latin typeface="Calibri" pitchFamily="34" charset="0"/>
                <a:ea typeface="Calibri" pitchFamily="34" charset="-122"/>
                <a:cs typeface="Calibri" pitchFamily="34" charset="-120"/>
              </a:rPr>
              <a:t>Miedo a quedarse atrás: 'las que aprenden esto primero capturan el mercado'</a:t>
            </a:r>
            <a:endParaRPr lang="en-US" sz="1600" dirty="0"/>
          </a:p>
        </p:txBody>
      </p:sp>
      <p:sp>
        <p:nvSpPr>
          <p:cNvPr id="18" name="Text 16"/>
          <p:cNvSpPr/>
          <p:nvPr/>
        </p:nvSpPr>
        <p:spPr>
          <a:xfrm>
            <a:off x="4754880" y="2313432"/>
            <a:ext cx="4023360" cy="201168"/>
          </a:xfrm>
          <a:prstGeom prst="rect">
            <a:avLst/>
          </a:prstGeom>
          <a:noFill/>
          <a:ln/>
        </p:spPr>
        <p:txBody>
          <a:bodyPr wrap="square" rtlCol="0" anchor="ctr"/>
          <a:lstStyle/>
          <a:p>
            <a:pPr marL="0" indent="0">
              <a:buNone/>
            </a:pPr>
            <a:r>
              <a:rPr lang="en-US" sz="1200" b="1" dirty="0">
                <a:solidFill>
                  <a:srgbClr val="F5C842"/>
                </a:solidFill>
                <a:latin typeface="Calibri" pitchFamily="34" charset="0"/>
                <a:ea typeface="Calibri" pitchFamily="34" charset="-122"/>
                <a:cs typeface="Calibri" pitchFamily="34" charset="-120"/>
              </a:rPr>
              <a:t>Ángulo B</a:t>
            </a:r>
            <a:endParaRPr lang="en-US" sz="1200" dirty="0"/>
          </a:p>
        </p:txBody>
      </p:sp>
      <p:sp>
        <p:nvSpPr>
          <p:cNvPr id="19" name="Text 17"/>
          <p:cNvSpPr/>
          <p:nvPr/>
        </p:nvSpPr>
        <p:spPr>
          <a:xfrm>
            <a:off x="4754880" y="2532888"/>
            <a:ext cx="4023360" cy="384048"/>
          </a:xfrm>
          <a:prstGeom prst="rect">
            <a:avLst/>
          </a:prstGeom>
          <a:noFill/>
          <a:ln/>
        </p:spPr>
        <p:txBody>
          <a:bodyPr wrap="square" rtlCol="0" anchor="ctr"/>
          <a:lstStyle/>
          <a:p>
            <a:pPr marL="0" indent="0">
              <a:buNone/>
            </a:pPr>
            <a:r>
              <a:rPr lang="en-US" sz="1600" dirty="0">
                <a:solidFill>
                  <a:srgbClr val="D0D6EE"/>
                </a:solidFill>
                <a:latin typeface="Calibri" pitchFamily="34" charset="0"/>
                <a:ea typeface="Calibri" pitchFamily="34" charset="-122"/>
                <a:cs typeface="Calibri" pitchFamily="34" charset="-120"/>
              </a:rPr>
              <a:t>Transformación: 'de técnica a negocio rentable en una sesión'</a:t>
            </a:r>
            <a:endParaRPr lang="en-US" sz="1600" dirty="0"/>
          </a:p>
        </p:txBody>
      </p:sp>
      <p:sp>
        <p:nvSpPr>
          <p:cNvPr id="20" name="Text 18"/>
          <p:cNvSpPr/>
          <p:nvPr/>
        </p:nvSpPr>
        <p:spPr>
          <a:xfrm>
            <a:off x="4754880" y="3026664"/>
            <a:ext cx="4023360" cy="201168"/>
          </a:xfrm>
          <a:prstGeom prst="rect">
            <a:avLst/>
          </a:prstGeom>
          <a:noFill/>
          <a:ln/>
        </p:spPr>
        <p:txBody>
          <a:bodyPr wrap="square" rtlCol="0" anchor="ctr"/>
          <a:lstStyle/>
          <a:p>
            <a:pPr marL="0" indent="0">
              <a:buNone/>
            </a:pPr>
            <a:r>
              <a:rPr lang="en-US" sz="1200" b="1" dirty="0">
                <a:solidFill>
                  <a:srgbClr val="F5C842"/>
                </a:solidFill>
                <a:latin typeface="Calibri" pitchFamily="34" charset="0"/>
                <a:ea typeface="Calibri" pitchFamily="34" charset="-122"/>
                <a:cs typeface="Calibri" pitchFamily="34" charset="-120"/>
              </a:rPr>
              <a:t>Ángulo C</a:t>
            </a:r>
            <a:endParaRPr lang="en-US" sz="1200" dirty="0"/>
          </a:p>
        </p:txBody>
      </p:sp>
      <p:sp>
        <p:nvSpPr>
          <p:cNvPr id="21" name="Text 19"/>
          <p:cNvSpPr/>
          <p:nvPr/>
        </p:nvSpPr>
        <p:spPr>
          <a:xfrm>
            <a:off x="4754880" y="3246120"/>
            <a:ext cx="4023360" cy="384048"/>
          </a:xfrm>
          <a:prstGeom prst="rect">
            <a:avLst/>
          </a:prstGeom>
          <a:noFill/>
          <a:ln/>
        </p:spPr>
        <p:txBody>
          <a:bodyPr wrap="square" rtlCol="0" anchor="ctr"/>
          <a:lstStyle/>
          <a:p>
            <a:pPr marL="0" indent="0">
              <a:buNone/>
            </a:pPr>
            <a:r>
              <a:rPr lang="en-US" sz="1600" dirty="0">
                <a:solidFill>
                  <a:srgbClr val="D0D6EE"/>
                </a:solidFill>
                <a:latin typeface="Calibri" pitchFamily="34" charset="0"/>
                <a:ea typeface="Calibri" pitchFamily="34" charset="-122"/>
                <a:cs typeface="Calibri" pitchFamily="34" charset="-120"/>
              </a:rPr>
              <a:t>Social proof: 'más de 300 esteticistas ya cambiaron su forma de trabajar'</a:t>
            </a:r>
            <a:endParaRPr lang="en-US" sz="1600" dirty="0"/>
          </a:p>
        </p:txBody>
      </p:sp>
      <p:sp>
        <p:nvSpPr>
          <p:cNvPr id="22" name="Text 20"/>
          <p:cNvSpPr/>
          <p:nvPr/>
        </p:nvSpPr>
        <p:spPr>
          <a:xfrm>
            <a:off x="4754880" y="3739896"/>
            <a:ext cx="4023360" cy="201168"/>
          </a:xfrm>
          <a:prstGeom prst="rect">
            <a:avLst/>
          </a:prstGeom>
          <a:noFill/>
          <a:ln/>
        </p:spPr>
        <p:txBody>
          <a:bodyPr wrap="square" rtlCol="0" anchor="ctr"/>
          <a:lstStyle/>
          <a:p>
            <a:pPr marL="0" indent="0">
              <a:buNone/>
            </a:pPr>
            <a:r>
              <a:rPr lang="en-US" sz="1200" b="1" dirty="0">
                <a:solidFill>
                  <a:srgbClr val="F5C842"/>
                </a:solidFill>
                <a:latin typeface="Calibri" pitchFamily="34" charset="0"/>
                <a:ea typeface="Calibri" pitchFamily="34" charset="-122"/>
                <a:cs typeface="Calibri" pitchFamily="34" charset="-120"/>
              </a:rPr>
              <a:t>Formato reel</a:t>
            </a:r>
            <a:endParaRPr lang="en-US" sz="1200" dirty="0"/>
          </a:p>
        </p:txBody>
      </p:sp>
      <p:sp>
        <p:nvSpPr>
          <p:cNvPr id="23" name="Text 21"/>
          <p:cNvSpPr/>
          <p:nvPr/>
        </p:nvSpPr>
        <p:spPr>
          <a:xfrm>
            <a:off x="4754880" y="3959352"/>
            <a:ext cx="4023360" cy="384048"/>
          </a:xfrm>
          <a:prstGeom prst="rect">
            <a:avLst/>
          </a:prstGeom>
          <a:noFill/>
          <a:ln/>
        </p:spPr>
        <p:txBody>
          <a:bodyPr wrap="square" rtlCol="0" anchor="ctr"/>
          <a:lstStyle/>
          <a:p>
            <a:pPr marL="0" indent="0">
              <a:buNone/>
            </a:pPr>
            <a:r>
              <a:rPr lang="en-US" sz="1600" dirty="0">
                <a:solidFill>
                  <a:srgbClr val="D0D6EE"/>
                </a:solidFill>
                <a:latin typeface="Calibri" pitchFamily="34" charset="0"/>
                <a:ea typeface="Calibri" pitchFamily="34" charset="-122"/>
                <a:cs typeface="Calibri" pitchFamily="34" charset="-120"/>
              </a:rPr>
              <a:t>Gancho (0-5 s) + Desarrollo (5-25 s) + CTA (25-30 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201168"/>
          </a:xfrm>
          <a:prstGeom prst="rect">
            <a:avLst/>
          </a:prstGeom>
          <a:noFill/>
          <a:ln/>
        </p:spPr>
        <p:txBody>
          <a:bodyPr wrap="square" rtlCol="0" anchor="ctr"/>
          <a:lstStyle/>
          <a:p>
            <a:pPr marL="0" indent="0">
              <a:buNone/>
            </a:pPr>
            <a:r>
              <a:rPr lang="en-US" sz="900" b="1" kern="0" spc="200" dirty="0">
                <a:solidFill>
                  <a:srgbClr val="F5C842"/>
                </a:solidFill>
                <a:latin typeface="Calibri" pitchFamily="34" charset="0"/>
                <a:ea typeface="Calibri" pitchFamily="34" charset="-122"/>
                <a:cs typeface="Calibri" pitchFamily="34" charset="-120"/>
              </a:rPr>
              <a:t>VITAMINAS TECNOLÓGICAS · CAPACITACIÓN IA</a:t>
            </a:r>
            <a:endParaRPr lang="en-US" sz="900" dirty="0"/>
          </a:p>
        </p:txBody>
      </p:sp>
      <p:sp>
        <p:nvSpPr>
          <p:cNvPr id="3" name="Text 1"/>
          <p:cNvSpPr/>
          <p:nvPr/>
        </p:nvSpPr>
        <p:spPr>
          <a:xfrm>
            <a:off x="6400800" y="4846320"/>
            <a:ext cx="2560320" cy="182880"/>
          </a:xfrm>
          <a:prstGeom prst="rect">
            <a:avLst/>
          </a:prstGeom>
          <a:noFill/>
          <a:ln/>
        </p:spPr>
        <p:txBody>
          <a:bodyPr wrap="square" rtlCol="0" anchor="ctr"/>
          <a:lstStyle/>
          <a:p>
            <a:pPr marL="0" indent="0" algn="r">
              <a:buNone/>
            </a:pPr>
            <a:r>
              <a:rPr lang="en-US" sz="800" dirty="0">
                <a:solidFill>
                  <a:srgbClr val="8899BB"/>
                </a:solidFill>
                <a:latin typeface="Calibri" pitchFamily="34" charset="0"/>
                <a:ea typeface="Calibri" pitchFamily="34" charset="-122"/>
                <a:cs typeface="Calibri" pitchFamily="34" charset="-120"/>
              </a:rPr>
              <a:t>BLOQUE 05</a:t>
            </a:r>
            <a:endParaRPr lang="en-US" sz="800" dirty="0"/>
          </a:p>
        </p:txBody>
      </p:sp>
      <p:sp>
        <p:nvSpPr>
          <p:cNvPr id="4" name="Text 2"/>
          <p:cNvSpPr/>
          <p:nvPr/>
        </p:nvSpPr>
        <p:spPr>
          <a:xfrm>
            <a:off x="457200" y="411480"/>
            <a:ext cx="8229600" cy="402336"/>
          </a:xfrm>
          <a:prstGeom prst="rect">
            <a:avLst/>
          </a:prstGeom>
          <a:noFill/>
          <a:ln/>
        </p:spPr>
        <p:txBody>
          <a:bodyPr wrap="square" rtlCol="0" anchor="ctr"/>
          <a:lstStyle/>
          <a:p>
            <a:pPr marL="0" indent="0">
              <a:buNone/>
            </a:pPr>
            <a:r>
              <a:rPr lang="en-US" sz="2600" b="1" dirty="0">
                <a:solidFill>
                  <a:srgbClr val="121B3A"/>
                </a:solidFill>
                <a:latin typeface="Cambria" pitchFamily="34" charset="0"/>
                <a:ea typeface="Cambria" pitchFamily="34" charset="-122"/>
                <a:cs typeface="Cambria" pitchFamily="34" charset="-120"/>
              </a:rPr>
              <a:t>Estructura del prompt situacional</a:t>
            </a:r>
            <a:endParaRPr lang="en-US" sz="2600" dirty="0"/>
          </a:p>
        </p:txBody>
      </p:sp>
      <p:sp>
        <p:nvSpPr>
          <p:cNvPr id="5" name="Text 3"/>
          <p:cNvSpPr/>
          <p:nvPr/>
        </p:nvSpPr>
        <p:spPr>
          <a:xfrm>
            <a:off x="457200" y="859536"/>
            <a:ext cx="8229600" cy="237744"/>
          </a:xfrm>
          <a:prstGeom prst="rect">
            <a:avLst/>
          </a:prstGeom>
          <a:noFill/>
          <a:ln/>
        </p:spPr>
        <p:txBody>
          <a:bodyPr wrap="square" rtlCol="0" anchor="ctr"/>
          <a:lstStyle/>
          <a:p>
            <a:pPr marL="0" indent="0">
              <a:buNone/>
            </a:pPr>
            <a:r>
              <a:rPr lang="en-US" sz="1600" dirty="0">
                <a:solidFill>
                  <a:srgbClr val="5A5F73"/>
                </a:solidFill>
                <a:latin typeface="Calibri" pitchFamily="34" charset="0"/>
                <a:ea typeface="Calibri" pitchFamily="34" charset="-122"/>
                <a:cs typeface="Calibri" pitchFamily="34" charset="-120"/>
              </a:rPr>
              <a:t>Las 4 </a:t>
            </a:r>
            <a:r>
              <a:rPr lang="en-US" dirty="0">
                <a:solidFill>
                  <a:srgbClr val="5A5F73"/>
                </a:solidFill>
                <a:latin typeface="Calibri" pitchFamily="34" charset="0"/>
                <a:ea typeface="Calibri" pitchFamily="34" charset="-122"/>
                <a:cs typeface="Calibri" pitchFamily="34" charset="-120"/>
              </a:rPr>
              <a:t>partes</a:t>
            </a:r>
            <a:r>
              <a:rPr lang="en-US" sz="1600" dirty="0">
                <a:solidFill>
                  <a:srgbClr val="5A5F73"/>
                </a:solidFill>
                <a:latin typeface="Calibri" pitchFamily="34" charset="0"/>
                <a:ea typeface="Calibri" pitchFamily="34" charset="-122"/>
                <a:cs typeface="Calibri" pitchFamily="34" charset="-120"/>
              </a:rPr>
              <a:t> que todo prompt de contenido debe tener</a:t>
            </a:r>
            <a:endParaRPr lang="en-US" sz="1600" dirty="0"/>
          </a:p>
        </p:txBody>
      </p:sp>
      <p:sp>
        <p:nvSpPr>
          <p:cNvPr id="6" name="Shape 4"/>
          <p:cNvSpPr/>
          <p:nvPr/>
        </p:nvSpPr>
        <p:spPr>
          <a:xfrm>
            <a:off x="457200" y="1234440"/>
            <a:ext cx="3931920" cy="1389888"/>
          </a:xfrm>
          <a:prstGeom prst="roundRect">
            <a:avLst>
              <a:gd name="adj" fmla="val 5263"/>
            </a:avLst>
          </a:prstGeom>
          <a:solidFill>
            <a:srgbClr val="F7F7F9"/>
          </a:solidFill>
          <a:ln w="12700">
            <a:solidFill>
              <a:srgbClr val="E5E5EA"/>
            </a:solidFill>
            <a:prstDash val="solid"/>
          </a:ln>
          <a:effectLst>
            <a:outerShdw blurRad="76200" dist="25400" dir="2700000" algn="bl" rotWithShape="0">
              <a:srgbClr val="000000">
                <a:alpha val="8000"/>
              </a:srgbClr>
            </a:outerShdw>
          </a:effectLst>
        </p:spPr>
        <p:txBody>
          <a:bodyPr/>
          <a:lstStyle/>
          <a:p>
            <a:endParaRPr lang="es-PE" sz="2400"/>
          </a:p>
        </p:txBody>
      </p:sp>
      <p:sp>
        <p:nvSpPr>
          <p:cNvPr id="7" name="Shape 5"/>
          <p:cNvSpPr/>
          <p:nvPr/>
        </p:nvSpPr>
        <p:spPr>
          <a:xfrm>
            <a:off x="640080" y="1417320"/>
            <a:ext cx="438912" cy="438912"/>
          </a:xfrm>
          <a:prstGeom prst="ellipse">
            <a:avLst/>
          </a:prstGeom>
          <a:solidFill>
            <a:srgbClr val="F5C842"/>
          </a:solidFill>
          <a:ln/>
        </p:spPr>
        <p:txBody>
          <a:bodyPr/>
          <a:lstStyle/>
          <a:p>
            <a:endParaRPr lang="es-PE" sz="2400"/>
          </a:p>
        </p:txBody>
      </p:sp>
      <p:sp>
        <p:nvSpPr>
          <p:cNvPr id="8" name="Text 6"/>
          <p:cNvSpPr/>
          <p:nvPr/>
        </p:nvSpPr>
        <p:spPr>
          <a:xfrm>
            <a:off x="640080" y="1417320"/>
            <a:ext cx="438912"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9" name="Text 7"/>
          <p:cNvSpPr/>
          <p:nvPr/>
        </p:nvSpPr>
        <p:spPr>
          <a:xfrm>
            <a:off x="1170432" y="1417320"/>
            <a:ext cx="3017520" cy="292608"/>
          </a:xfrm>
          <a:prstGeom prst="rect">
            <a:avLst/>
          </a:prstGeom>
          <a:noFill/>
          <a:ln/>
        </p:spPr>
        <p:txBody>
          <a:bodyPr wrap="square" rtlCol="0" anchor="ctr"/>
          <a:lstStyle/>
          <a:p>
            <a:pPr marL="0" indent="0">
              <a:buNone/>
            </a:pPr>
            <a:r>
              <a:rPr lang="en-US" b="1" dirty="0">
                <a:solidFill>
                  <a:srgbClr val="121B3A"/>
                </a:solidFill>
                <a:latin typeface="Cambria" pitchFamily="34" charset="0"/>
                <a:ea typeface="Cambria" pitchFamily="34" charset="-122"/>
                <a:cs typeface="Cambria" pitchFamily="34" charset="-120"/>
              </a:rPr>
              <a:t>Contexto</a:t>
            </a:r>
            <a:endParaRPr lang="en-US" dirty="0"/>
          </a:p>
        </p:txBody>
      </p:sp>
      <p:sp>
        <p:nvSpPr>
          <p:cNvPr id="10" name="Text 8"/>
          <p:cNvSpPr/>
          <p:nvPr/>
        </p:nvSpPr>
        <p:spPr>
          <a:xfrm>
            <a:off x="640080" y="1892808"/>
            <a:ext cx="3566160" cy="566928"/>
          </a:xfrm>
          <a:prstGeom prst="rect">
            <a:avLst/>
          </a:prstGeom>
          <a:noFill/>
          <a:ln/>
        </p:spPr>
        <p:txBody>
          <a:bodyPr wrap="square" rtlCol="0" anchor="ctr"/>
          <a:lstStyle/>
          <a:p>
            <a:pPr marL="0" indent="0">
              <a:buNone/>
            </a:pPr>
            <a:r>
              <a:rPr lang="en-US" sz="1400" dirty="0">
                <a:solidFill>
                  <a:srgbClr val="5A5F73"/>
                </a:solidFill>
                <a:latin typeface="Calibri" pitchFamily="34" charset="0"/>
                <a:ea typeface="Calibri" pitchFamily="34" charset="-122"/>
                <a:cs typeface="Calibri" pitchFamily="34" charset="-120"/>
              </a:rPr>
              <a:t>¿Quién eres? ¿Para qué marca? ¿Qué hace la academia?</a:t>
            </a:r>
            <a:endParaRPr lang="en-US" sz="1400" dirty="0"/>
          </a:p>
        </p:txBody>
      </p:sp>
      <p:sp>
        <p:nvSpPr>
          <p:cNvPr id="11" name="Shape 9"/>
          <p:cNvSpPr/>
          <p:nvPr/>
        </p:nvSpPr>
        <p:spPr>
          <a:xfrm>
            <a:off x="457200" y="2788920"/>
            <a:ext cx="3931920" cy="1389888"/>
          </a:xfrm>
          <a:prstGeom prst="roundRect">
            <a:avLst>
              <a:gd name="adj" fmla="val 5263"/>
            </a:avLst>
          </a:prstGeom>
          <a:solidFill>
            <a:srgbClr val="F7F7F9"/>
          </a:solidFill>
          <a:ln w="12700">
            <a:solidFill>
              <a:srgbClr val="E5E5EA"/>
            </a:solidFill>
            <a:prstDash val="solid"/>
          </a:ln>
          <a:effectLst>
            <a:outerShdw blurRad="76200" dist="25400" dir="2700000" algn="bl" rotWithShape="0">
              <a:srgbClr val="000000">
                <a:alpha val="8000"/>
              </a:srgbClr>
            </a:outerShdw>
          </a:effectLst>
        </p:spPr>
        <p:txBody>
          <a:bodyPr/>
          <a:lstStyle/>
          <a:p>
            <a:endParaRPr lang="es-PE" sz="2400"/>
          </a:p>
        </p:txBody>
      </p:sp>
      <p:sp>
        <p:nvSpPr>
          <p:cNvPr id="12" name="Shape 10"/>
          <p:cNvSpPr/>
          <p:nvPr/>
        </p:nvSpPr>
        <p:spPr>
          <a:xfrm>
            <a:off x="640080" y="2971800"/>
            <a:ext cx="438912" cy="438912"/>
          </a:xfrm>
          <a:prstGeom prst="ellipse">
            <a:avLst/>
          </a:prstGeom>
          <a:solidFill>
            <a:srgbClr val="1E2D6B"/>
          </a:solidFill>
          <a:ln/>
        </p:spPr>
        <p:txBody>
          <a:bodyPr/>
          <a:lstStyle/>
          <a:p>
            <a:endParaRPr lang="es-PE" sz="2400"/>
          </a:p>
        </p:txBody>
      </p:sp>
      <p:sp>
        <p:nvSpPr>
          <p:cNvPr id="13" name="Text 11"/>
          <p:cNvSpPr/>
          <p:nvPr/>
        </p:nvSpPr>
        <p:spPr>
          <a:xfrm>
            <a:off x="640080" y="2971800"/>
            <a:ext cx="438912"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2"/>
          <p:cNvSpPr/>
          <p:nvPr/>
        </p:nvSpPr>
        <p:spPr>
          <a:xfrm>
            <a:off x="1170432" y="2971800"/>
            <a:ext cx="3017520" cy="292608"/>
          </a:xfrm>
          <a:prstGeom prst="rect">
            <a:avLst/>
          </a:prstGeom>
          <a:noFill/>
          <a:ln/>
        </p:spPr>
        <p:txBody>
          <a:bodyPr wrap="square" rtlCol="0" anchor="ctr"/>
          <a:lstStyle/>
          <a:p>
            <a:pPr marL="0" indent="0">
              <a:buNone/>
            </a:pPr>
            <a:r>
              <a:rPr lang="en-US" b="1" dirty="0">
                <a:solidFill>
                  <a:srgbClr val="121B3A"/>
                </a:solidFill>
                <a:latin typeface="Cambria" pitchFamily="34" charset="0"/>
                <a:ea typeface="Cambria" pitchFamily="34" charset="-122"/>
                <a:cs typeface="Cambria" pitchFamily="34" charset="-120"/>
              </a:rPr>
              <a:t>Datos</a:t>
            </a:r>
            <a:endParaRPr lang="en-US" dirty="0"/>
          </a:p>
        </p:txBody>
      </p:sp>
      <p:sp>
        <p:nvSpPr>
          <p:cNvPr id="15" name="Text 13"/>
          <p:cNvSpPr/>
          <p:nvPr/>
        </p:nvSpPr>
        <p:spPr>
          <a:xfrm>
            <a:off x="640080" y="3447288"/>
            <a:ext cx="3566160" cy="566928"/>
          </a:xfrm>
          <a:prstGeom prst="rect">
            <a:avLst/>
          </a:prstGeom>
          <a:noFill/>
          <a:ln/>
        </p:spPr>
        <p:txBody>
          <a:bodyPr wrap="square" rtlCol="0" anchor="ctr"/>
          <a:lstStyle/>
          <a:p>
            <a:pPr marL="0" indent="0">
              <a:buNone/>
            </a:pPr>
            <a:r>
              <a:rPr lang="en-US" sz="1400" dirty="0">
                <a:solidFill>
                  <a:srgbClr val="5A5F73"/>
                </a:solidFill>
                <a:latin typeface="Calibri" pitchFamily="34" charset="0"/>
                <a:ea typeface="Calibri" pitchFamily="34" charset="-122"/>
                <a:cs typeface="Calibri" pitchFamily="34" charset="-120"/>
              </a:rPr>
              <a:t>Los campos del brief: público, dolor, beneficio, CTA, ángulo</a:t>
            </a:r>
            <a:endParaRPr lang="en-US" sz="1400" dirty="0"/>
          </a:p>
        </p:txBody>
      </p:sp>
      <p:sp>
        <p:nvSpPr>
          <p:cNvPr id="16" name="Shape 14"/>
          <p:cNvSpPr/>
          <p:nvPr/>
        </p:nvSpPr>
        <p:spPr>
          <a:xfrm>
            <a:off x="4754880" y="1234440"/>
            <a:ext cx="3931920" cy="1389888"/>
          </a:xfrm>
          <a:prstGeom prst="roundRect">
            <a:avLst>
              <a:gd name="adj" fmla="val 5263"/>
            </a:avLst>
          </a:prstGeom>
          <a:solidFill>
            <a:srgbClr val="F7F7F9"/>
          </a:solidFill>
          <a:ln w="12700">
            <a:solidFill>
              <a:srgbClr val="E5E5EA"/>
            </a:solidFill>
            <a:prstDash val="solid"/>
          </a:ln>
          <a:effectLst>
            <a:outerShdw blurRad="76200" dist="25400" dir="2700000" algn="bl" rotWithShape="0">
              <a:srgbClr val="000000">
                <a:alpha val="8000"/>
              </a:srgbClr>
            </a:outerShdw>
          </a:effectLst>
        </p:spPr>
        <p:txBody>
          <a:bodyPr/>
          <a:lstStyle/>
          <a:p>
            <a:endParaRPr lang="es-PE" sz="2400"/>
          </a:p>
        </p:txBody>
      </p:sp>
      <p:sp>
        <p:nvSpPr>
          <p:cNvPr id="17" name="Shape 15"/>
          <p:cNvSpPr/>
          <p:nvPr/>
        </p:nvSpPr>
        <p:spPr>
          <a:xfrm>
            <a:off x="4937760" y="1417320"/>
            <a:ext cx="438912" cy="438912"/>
          </a:xfrm>
          <a:prstGeom prst="ellipse">
            <a:avLst/>
          </a:prstGeom>
          <a:solidFill>
            <a:srgbClr val="1E7A34"/>
          </a:solidFill>
          <a:ln/>
        </p:spPr>
        <p:txBody>
          <a:bodyPr/>
          <a:lstStyle/>
          <a:p>
            <a:endParaRPr lang="es-PE" sz="2400"/>
          </a:p>
        </p:txBody>
      </p:sp>
      <p:sp>
        <p:nvSpPr>
          <p:cNvPr id="18" name="Text 16"/>
          <p:cNvSpPr/>
          <p:nvPr/>
        </p:nvSpPr>
        <p:spPr>
          <a:xfrm>
            <a:off x="4937760" y="1417320"/>
            <a:ext cx="438912"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9" name="Text 17"/>
          <p:cNvSpPr/>
          <p:nvPr/>
        </p:nvSpPr>
        <p:spPr>
          <a:xfrm>
            <a:off x="5468112" y="1417320"/>
            <a:ext cx="3017520" cy="292608"/>
          </a:xfrm>
          <a:prstGeom prst="rect">
            <a:avLst/>
          </a:prstGeom>
          <a:noFill/>
          <a:ln/>
        </p:spPr>
        <p:txBody>
          <a:bodyPr wrap="square" rtlCol="0" anchor="ctr"/>
          <a:lstStyle/>
          <a:p>
            <a:pPr marL="0" indent="0">
              <a:buNone/>
            </a:pPr>
            <a:r>
              <a:rPr lang="en-US" b="1" dirty="0">
                <a:solidFill>
                  <a:srgbClr val="121B3A"/>
                </a:solidFill>
                <a:latin typeface="Cambria" pitchFamily="34" charset="0"/>
                <a:ea typeface="Cambria" pitchFamily="34" charset="-122"/>
                <a:cs typeface="Cambria" pitchFamily="34" charset="-120"/>
              </a:rPr>
              <a:t>Instrucción</a:t>
            </a:r>
            <a:endParaRPr lang="en-US" dirty="0"/>
          </a:p>
        </p:txBody>
      </p:sp>
      <p:sp>
        <p:nvSpPr>
          <p:cNvPr id="20" name="Text 18"/>
          <p:cNvSpPr/>
          <p:nvPr/>
        </p:nvSpPr>
        <p:spPr>
          <a:xfrm>
            <a:off x="4937760" y="1892808"/>
            <a:ext cx="3566160" cy="566928"/>
          </a:xfrm>
          <a:prstGeom prst="rect">
            <a:avLst/>
          </a:prstGeom>
          <a:noFill/>
          <a:ln/>
        </p:spPr>
        <p:txBody>
          <a:bodyPr wrap="square" rtlCol="0" anchor="ctr"/>
          <a:lstStyle/>
          <a:p>
            <a:pPr marL="0" indent="0">
              <a:buNone/>
            </a:pPr>
            <a:r>
              <a:rPr lang="en-US" sz="1400" dirty="0">
                <a:solidFill>
                  <a:srgbClr val="5A5F73"/>
                </a:solidFill>
                <a:latin typeface="Calibri" pitchFamily="34" charset="0"/>
                <a:ea typeface="Calibri" pitchFamily="34" charset="-122"/>
                <a:cs typeface="Calibri" pitchFamily="34" charset="-120"/>
              </a:rPr>
              <a:t>Qué debe producir la IA: formato, cantidad, tono, restricciones</a:t>
            </a:r>
            <a:endParaRPr lang="en-US" sz="1400" dirty="0"/>
          </a:p>
        </p:txBody>
      </p:sp>
      <p:sp>
        <p:nvSpPr>
          <p:cNvPr id="21" name="Shape 19"/>
          <p:cNvSpPr/>
          <p:nvPr/>
        </p:nvSpPr>
        <p:spPr>
          <a:xfrm>
            <a:off x="4754880" y="2788920"/>
            <a:ext cx="3931920" cy="1389888"/>
          </a:xfrm>
          <a:prstGeom prst="roundRect">
            <a:avLst>
              <a:gd name="adj" fmla="val 5263"/>
            </a:avLst>
          </a:prstGeom>
          <a:solidFill>
            <a:srgbClr val="F7F7F9"/>
          </a:solidFill>
          <a:ln w="12700">
            <a:solidFill>
              <a:srgbClr val="E5E5EA"/>
            </a:solidFill>
            <a:prstDash val="solid"/>
          </a:ln>
          <a:effectLst>
            <a:outerShdw blurRad="76200" dist="25400" dir="2700000" algn="bl" rotWithShape="0">
              <a:srgbClr val="000000">
                <a:alpha val="8000"/>
              </a:srgbClr>
            </a:outerShdw>
          </a:effectLst>
        </p:spPr>
        <p:txBody>
          <a:bodyPr/>
          <a:lstStyle/>
          <a:p>
            <a:endParaRPr lang="es-PE" sz="2400"/>
          </a:p>
        </p:txBody>
      </p:sp>
      <p:sp>
        <p:nvSpPr>
          <p:cNvPr id="22" name="Shape 20"/>
          <p:cNvSpPr/>
          <p:nvPr/>
        </p:nvSpPr>
        <p:spPr>
          <a:xfrm>
            <a:off x="4937760" y="2971800"/>
            <a:ext cx="438912" cy="438912"/>
          </a:xfrm>
          <a:prstGeom prst="ellipse">
            <a:avLst/>
          </a:prstGeom>
          <a:solidFill>
            <a:srgbClr val="8899BB"/>
          </a:solidFill>
          <a:ln/>
        </p:spPr>
        <p:txBody>
          <a:bodyPr/>
          <a:lstStyle/>
          <a:p>
            <a:endParaRPr lang="es-PE" sz="2400"/>
          </a:p>
        </p:txBody>
      </p:sp>
      <p:sp>
        <p:nvSpPr>
          <p:cNvPr id="23" name="Text 21"/>
          <p:cNvSpPr/>
          <p:nvPr/>
        </p:nvSpPr>
        <p:spPr>
          <a:xfrm>
            <a:off x="4937760" y="2971800"/>
            <a:ext cx="438912"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4" name="Text 22"/>
          <p:cNvSpPr/>
          <p:nvPr/>
        </p:nvSpPr>
        <p:spPr>
          <a:xfrm>
            <a:off x="5468112" y="2971800"/>
            <a:ext cx="3017520" cy="292608"/>
          </a:xfrm>
          <a:prstGeom prst="rect">
            <a:avLst/>
          </a:prstGeom>
          <a:noFill/>
          <a:ln/>
        </p:spPr>
        <p:txBody>
          <a:bodyPr wrap="square" rtlCol="0" anchor="ctr"/>
          <a:lstStyle/>
          <a:p>
            <a:pPr marL="0" indent="0">
              <a:buNone/>
            </a:pPr>
            <a:r>
              <a:rPr lang="en-US" b="1" dirty="0">
                <a:solidFill>
                  <a:srgbClr val="121B3A"/>
                </a:solidFill>
                <a:latin typeface="Cambria" pitchFamily="34" charset="0"/>
                <a:ea typeface="Cambria" pitchFamily="34" charset="-122"/>
                <a:cs typeface="Cambria" pitchFamily="34" charset="-120"/>
              </a:rPr>
              <a:t>Formato de salida</a:t>
            </a:r>
            <a:endParaRPr lang="en-US" dirty="0"/>
          </a:p>
        </p:txBody>
      </p:sp>
      <p:sp>
        <p:nvSpPr>
          <p:cNvPr id="25" name="Text 23"/>
          <p:cNvSpPr/>
          <p:nvPr/>
        </p:nvSpPr>
        <p:spPr>
          <a:xfrm>
            <a:off x="4937760" y="3447288"/>
            <a:ext cx="3566160" cy="566928"/>
          </a:xfrm>
          <a:prstGeom prst="rect">
            <a:avLst/>
          </a:prstGeom>
          <a:noFill/>
          <a:ln/>
        </p:spPr>
        <p:txBody>
          <a:bodyPr wrap="square" rtlCol="0" anchor="ctr"/>
          <a:lstStyle/>
          <a:p>
            <a:pPr marL="0" indent="0">
              <a:buNone/>
            </a:pPr>
            <a:r>
              <a:rPr lang="en-US" sz="1400" dirty="0">
                <a:solidFill>
                  <a:srgbClr val="5A5F73"/>
                </a:solidFill>
                <a:latin typeface="Calibri" pitchFamily="34" charset="0"/>
                <a:ea typeface="Calibri" pitchFamily="34" charset="-122"/>
                <a:cs typeface="Calibri" pitchFamily="34" charset="-120"/>
              </a:rPr>
              <a:t>Cómo debe entregarlo: lista, tabla, número de caracteres, columnas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201168"/>
          </a:xfrm>
          <a:prstGeom prst="rect">
            <a:avLst/>
          </a:prstGeom>
          <a:noFill/>
          <a:ln/>
        </p:spPr>
        <p:txBody>
          <a:bodyPr wrap="square" rtlCol="0" anchor="ctr"/>
          <a:lstStyle/>
          <a:p>
            <a:pPr marL="0" indent="0">
              <a:buNone/>
            </a:pPr>
            <a:r>
              <a:rPr lang="en-US" sz="900" b="1" kern="0" spc="200" dirty="0">
                <a:solidFill>
                  <a:srgbClr val="F5C842"/>
                </a:solidFill>
                <a:latin typeface="Calibri" pitchFamily="34" charset="0"/>
                <a:ea typeface="Calibri" pitchFamily="34" charset="-122"/>
                <a:cs typeface="Calibri" pitchFamily="34" charset="-120"/>
              </a:rPr>
              <a:t>VITAMINAS TECNOLÓGICAS · CAPACITACIÓN IA</a:t>
            </a:r>
            <a:endParaRPr lang="en-US" sz="900" dirty="0"/>
          </a:p>
        </p:txBody>
      </p:sp>
      <p:sp>
        <p:nvSpPr>
          <p:cNvPr id="3" name="Text 1"/>
          <p:cNvSpPr/>
          <p:nvPr/>
        </p:nvSpPr>
        <p:spPr>
          <a:xfrm>
            <a:off x="6400800" y="4846320"/>
            <a:ext cx="2560320" cy="182880"/>
          </a:xfrm>
          <a:prstGeom prst="rect">
            <a:avLst/>
          </a:prstGeom>
          <a:noFill/>
          <a:ln/>
        </p:spPr>
        <p:txBody>
          <a:bodyPr wrap="square" rtlCol="0" anchor="ctr"/>
          <a:lstStyle/>
          <a:p>
            <a:pPr marL="0" indent="0" algn="r">
              <a:buNone/>
            </a:pPr>
            <a:r>
              <a:rPr lang="en-US" sz="800" dirty="0">
                <a:solidFill>
                  <a:srgbClr val="8899BB"/>
                </a:solidFill>
                <a:latin typeface="Calibri" pitchFamily="34" charset="0"/>
                <a:ea typeface="Calibri" pitchFamily="34" charset="-122"/>
                <a:cs typeface="Calibri" pitchFamily="34" charset="-120"/>
              </a:rPr>
              <a:t>BLOQUE 05 · SITUACIÓN C1A</a:t>
            </a:r>
            <a:endParaRPr lang="en-US" sz="800" dirty="0"/>
          </a:p>
        </p:txBody>
      </p:sp>
      <p:sp>
        <p:nvSpPr>
          <p:cNvPr id="4" name="Shape 2"/>
          <p:cNvSpPr/>
          <p:nvPr/>
        </p:nvSpPr>
        <p:spPr>
          <a:xfrm>
            <a:off x="457200" y="384048"/>
            <a:ext cx="2377440" cy="274320"/>
          </a:xfrm>
          <a:prstGeom prst="roundRect">
            <a:avLst>
              <a:gd name="adj" fmla="val 13333"/>
            </a:avLst>
          </a:prstGeom>
          <a:solidFill>
            <a:srgbClr val="121B3A"/>
          </a:solidFill>
          <a:ln/>
        </p:spPr>
        <p:txBody>
          <a:bodyPr/>
          <a:lstStyle/>
          <a:p>
            <a:endParaRPr lang="es-PE"/>
          </a:p>
        </p:txBody>
      </p:sp>
      <p:sp>
        <p:nvSpPr>
          <p:cNvPr id="5" name="Text 3"/>
          <p:cNvSpPr/>
          <p:nvPr/>
        </p:nvSpPr>
        <p:spPr>
          <a:xfrm>
            <a:off x="457200" y="393192"/>
            <a:ext cx="2377440" cy="256032"/>
          </a:xfrm>
          <a:prstGeom prst="rect">
            <a:avLst/>
          </a:prstGeom>
          <a:noFill/>
          <a:ln/>
        </p:spPr>
        <p:txBody>
          <a:bodyPr wrap="square" lIns="0" tIns="0" rIns="0" bIns="0" rtlCol="0" anchor="ctr"/>
          <a:lstStyle/>
          <a:p>
            <a:pPr marL="0" indent="0" algn="ctr">
              <a:buNone/>
            </a:pPr>
            <a:r>
              <a:rPr lang="en-US" sz="900" b="1" kern="0" spc="100" dirty="0">
                <a:solidFill>
                  <a:srgbClr val="F5C842"/>
                </a:solidFill>
                <a:latin typeface="Calibri" pitchFamily="34" charset="0"/>
                <a:ea typeface="Calibri" pitchFamily="34" charset="-122"/>
                <a:cs typeface="Calibri" pitchFamily="34" charset="-120"/>
              </a:rPr>
              <a:t>SITUACIÓN C1A — TRÁFICO</a:t>
            </a:r>
            <a:endParaRPr lang="en-US" sz="900" dirty="0"/>
          </a:p>
        </p:txBody>
      </p:sp>
      <p:sp>
        <p:nvSpPr>
          <p:cNvPr id="6" name="Text 4"/>
          <p:cNvSpPr/>
          <p:nvPr/>
        </p:nvSpPr>
        <p:spPr>
          <a:xfrm>
            <a:off x="457200" y="749808"/>
            <a:ext cx="8229600" cy="384048"/>
          </a:xfrm>
          <a:prstGeom prst="rect">
            <a:avLst/>
          </a:prstGeom>
          <a:noFill/>
          <a:ln/>
        </p:spPr>
        <p:txBody>
          <a:bodyPr wrap="square" rtlCol="0" anchor="ctr"/>
          <a:lstStyle/>
          <a:p>
            <a:pPr marL="0" indent="0">
              <a:buNone/>
            </a:pPr>
            <a:r>
              <a:rPr lang="en-US" sz="2400" b="1" dirty="0">
                <a:solidFill>
                  <a:srgbClr val="121B3A"/>
                </a:solidFill>
                <a:latin typeface="Cambria" pitchFamily="34" charset="0"/>
                <a:ea typeface="Cambria" pitchFamily="34" charset="-122"/>
                <a:cs typeface="Cambria" pitchFamily="34" charset="-120"/>
              </a:rPr>
              <a:t>3 variaciones de copy para Meta Ads</a:t>
            </a:r>
            <a:endParaRPr lang="en-US" sz="2400" dirty="0"/>
          </a:p>
        </p:txBody>
      </p:sp>
      <p:sp>
        <p:nvSpPr>
          <p:cNvPr id="7" name="Text 5"/>
          <p:cNvSpPr/>
          <p:nvPr/>
        </p:nvSpPr>
        <p:spPr>
          <a:xfrm>
            <a:off x="457200" y="1170432"/>
            <a:ext cx="8229600" cy="237744"/>
          </a:xfrm>
          <a:prstGeom prst="rect">
            <a:avLst/>
          </a:prstGeom>
          <a:noFill/>
          <a:ln/>
        </p:spPr>
        <p:txBody>
          <a:bodyPr wrap="square" rtlCol="0" anchor="ctr"/>
          <a:lstStyle/>
          <a:p>
            <a:pPr marL="0" indent="0">
              <a:buNone/>
            </a:pPr>
            <a:r>
              <a:rPr lang="en-US" sz="1400" dirty="0">
                <a:solidFill>
                  <a:srgbClr val="5A5F73"/>
                </a:solidFill>
                <a:latin typeface="Calibri" pitchFamily="34" charset="0"/>
                <a:ea typeface="Calibri" pitchFamily="34" charset="-122"/>
                <a:cs typeface="Calibri" pitchFamily="34" charset="-120"/>
              </a:rPr>
              <a:t>Testeo A/B/C — un copy por ángulo</a:t>
            </a:r>
            <a:endParaRPr lang="en-US" sz="1400" dirty="0"/>
          </a:p>
        </p:txBody>
      </p:sp>
      <p:sp>
        <p:nvSpPr>
          <p:cNvPr id="8" name="Shape 6"/>
          <p:cNvSpPr/>
          <p:nvPr/>
        </p:nvSpPr>
        <p:spPr>
          <a:xfrm>
            <a:off x="457199" y="1508760"/>
            <a:ext cx="54865" cy="2625918"/>
          </a:xfrm>
          <a:prstGeom prst="rect">
            <a:avLst/>
          </a:prstGeom>
          <a:solidFill>
            <a:srgbClr val="F5C842"/>
          </a:solidFill>
          <a:ln w="12700">
            <a:solidFill>
              <a:srgbClr val="F5C842"/>
            </a:solidFill>
            <a:prstDash val="solid"/>
          </a:ln>
        </p:spPr>
        <p:txBody>
          <a:bodyPr/>
          <a:lstStyle/>
          <a:p>
            <a:endParaRPr lang="es-PE" sz="2400"/>
          </a:p>
        </p:txBody>
      </p:sp>
      <p:sp>
        <p:nvSpPr>
          <p:cNvPr id="9" name="Shape 7"/>
          <p:cNvSpPr/>
          <p:nvPr/>
        </p:nvSpPr>
        <p:spPr>
          <a:xfrm>
            <a:off x="493776" y="1508760"/>
            <a:ext cx="8193024" cy="2682266"/>
          </a:xfrm>
          <a:prstGeom prst="rect">
            <a:avLst/>
          </a:prstGeom>
          <a:solidFill>
            <a:srgbClr val="F7F7F9"/>
          </a:solidFill>
          <a:ln w="12700">
            <a:solidFill>
              <a:srgbClr val="E5E5EA"/>
            </a:solidFill>
            <a:prstDash val="solid"/>
          </a:ln>
        </p:spPr>
        <p:txBody>
          <a:bodyPr/>
          <a:lstStyle/>
          <a:p>
            <a:endParaRPr lang="es-PE" sz="2400"/>
          </a:p>
        </p:txBody>
      </p:sp>
      <p:sp>
        <p:nvSpPr>
          <p:cNvPr id="10" name="Text 8"/>
          <p:cNvSpPr/>
          <p:nvPr/>
        </p:nvSpPr>
        <p:spPr>
          <a:xfrm>
            <a:off x="585216" y="1581912"/>
            <a:ext cx="8046720" cy="2157984"/>
          </a:xfrm>
          <a:prstGeom prst="rect">
            <a:avLst/>
          </a:prstGeom>
          <a:noFill/>
          <a:ln/>
        </p:spPr>
        <p:txBody>
          <a:bodyPr wrap="square" rtlCol="0" anchor="t"/>
          <a:lstStyle/>
          <a:p>
            <a:pPr marL="0" indent="0">
              <a:buNone/>
            </a:pPr>
            <a:r>
              <a:rPr lang="en-US" sz="1350" dirty="0">
                <a:solidFill>
                  <a:srgbClr val="1A1A1A"/>
                </a:solidFill>
                <a:latin typeface="Calibri" pitchFamily="34" charset="0"/>
                <a:ea typeface="Calibri" pitchFamily="34" charset="-122"/>
                <a:cs typeface="Calibri" pitchFamily="34" charset="-120"/>
              </a:rPr>
              <a:t>Eres especialista en copy de performance para Meta Ads.</a:t>
            </a:r>
            <a:endParaRPr lang="en-US" sz="1350" dirty="0"/>
          </a:p>
          <a:p>
            <a:pPr marL="0" indent="0">
              <a:buNone/>
            </a:pPr>
            <a:endParaRPr lang="en-US" sz="1350" dirty="0"/>
          </a:p>
          <a:p>
            <a:pPr marL="0" indent="0">
              <a:buNone/>
            </a:pPr>
            <a:r>
              <a:rPr lang="en-US" sz="1350" dirty="0">
                <a:solidFill>
                  <a:srgbClr val="1A1A1A"/>
                </a:solidFill>
                <a:latin typeface="Calibri" pitchFamily="34" charset="0"/>
                <a:ea typeface="Calibri" pitchFamily="34" charset="-122"/>
                <a:cs typeface="Calibri" pitchFamily="34" charset="-120"/>
              </a:rPr>
              <a:t>Webinar: [NOMBRE DEL WEBINAR]  ·  Fecha: [FECHA Y HORA]</a:t>
            </a:r>
            <a:endParaRPr lang="en-US" sz="1350" dirty="0"/>
          </a:p>
          <a:p>
            <a:pPr marL="0" indent="0">
              <a:buNone/>
            </a:pPr>
            <a:r>
              <a:rPr lang="en-US" sz="1350" dirty="0">
                <a:solidFill>
                  <a:srgbClr val="1A1A1A"/>
                </a:solidFill>
                <a:latin typeface="Calibri" pitchFamily="34" charset="0"/>
                <a:ea typeface="Calibri" pitchFamily="34" charset="-122"/>
                <a:cs typeface="Calibri" pitchFamily="34" charset="-120"/>
              </a:rPr>
              <a:t>Público: [PÚBLICO OBJETIVO]  ·  Dolor: [DOLOR PRINCIPAL]</a:t>
            </a:r>
            <a:endParaRPr lang="en-US" sz="1350" dirty="0"/>
          </a:p>
          <a:p>
            <a:pPr marL="0" indent="0">
              <a:buNone/>
            </a:pPr>
            <a:r>
              <a:rPr lang="en-US" sz="1350" dirty="0">
                <a:solidFill>
                  <a:srgbClr val="1A1A1A"/>
                </a:solidFill>
                <a:latin typeface="Calibri" pitchFamily="34" charset="0"/>
                <a:ea typeface="Calibri" pitchFamily="34" charset="-122"/>
                <a:cs typeface="Calibri" pitchFamily="34" charset="-120"/>
              </a:rPr>
              <a:t>Beneficio: [BENEFICIO PRINCIPAL]  ·  CTA: [CTA PRINCIPAL]</a:t>
            </a:r>
            <a:endParaRPr lang="en-US" sz="1350" dirty="0"/>
          </a:p>
          <a:p>
            <a:pPr marL="0" indent="0">
              <a:buNone/>
            </a:pPr>
            <a:endParaRPr lang="en-US" sz="1350" dirty="0"/>
          </a:p>
          <a:p>
            <a:pPr marL="0" indent="0">
              <a:buNone/>
            </a:pPr>
            <a:r>
              <a:rPr lang="en-US" sz="1350" dirty="0">
                <a:solidFill>
                  <a:srgbClr val="1A1A1A"/>
                </a:solidFill>
                <a:latin typeface="Calibri" pitchFamily="34" charset="0"/>
                <a:ea typeface="Calibri" pitchFamily="34" charset="-122"/>
                <a:cs typeface="Calibri" pitchFamily="34" charset="-120"/>
              </a:rPr>
              <a:t>Escribe 3 variaciones de copy para anuncio en Meta Ads.</a:t>
            </a:r>
            <a:endParaRPr lang="en-US" sz="1350" dirty="0"/>
          </a:p>
          <a:p>
            <a:pPr marL="0" indent="0">
              <a:buNone/>
            </a:pPr>
            <a:r>
              <a:rPr lang="en-US" sz="1350" dirty="0">
                <a:solidFill>
                  <a:srgbClr val="1A1A1A"/>
                </a:solidFill>
                <a:latin typeface="Calibri" pitchFamily="34" charset="0"/>
                <a:ea typeface="Calibri" pitchFamily="34" charset="-122"/>
                <a:cs typeface="Calibri" pitchFamily="34" charset="-120"/>
              </a:rPr>
              <a:t>Variación A — ángulo miedo a quedarse atrás.</a:t>
            </a:r>
            <a:endParaRPr lang="en-US" sz="1350" dirty="0"/>
          </a:p>
          <a:p>
            <a:pPr marL="0" indent="0">
              <a:buNone/>
            </a:pPr>
            <a:r>
              <a:rPr lang="en-US" sz="1350" dirty="0">
                <a:solidFill>
                  <a:srgbClr val="1A1A1A"/>
                </a:solidFill>
                <a:latin typeface="Calibri" pitchFamily="34" charset="0"/>
                <a:ea typeface="Calibri" pitchFamily="34" charset="-122"/>
                <a:cs typeface="Calibri" pitchFamily="34" charset="-120"/>
              </a:rPr>
              <a:t>Variación B — ángulo transformación (antes/después).</a:t>
            </a:r>
            <a:endParaRPr lang="en-US" sz="1350" dirty="0"/>
          </a:p>
          <a:p>
            <a:pPr marL="0" indent="0">
              <a:buNone/>
            </a:pPr>
            <a:r>
              <a:rPr lang="en-US" sz="1350" dirty="0">
                <a:solidFill>
                  <a:srgbClr val="1A1A1A"/>
                </a:solidFill>
                <a:latin typeface="Calibri" pitchFamily="34" charset="0"/>
                <a:ea typeface="Calibri" pitchFamily="34" charset="-122"/>
                <a:cs typeface="Calibri" pitchFamily="34" charset="-120"/>
              </a:rPr>
              <a:t>Variación C — ángulo social proof (cifra de esteticistas).</a:t>
            </a:r>
            <a:endParaRPr lang="en-US" sz="1350" dirty="0"/>
          </a:p>
          <a:p>
            <a:pPr marL="0" indent="0">
              <a:buNone/>
            </a:pPr>
            <a:endParaRPr lang="en-US" sz="1350" dirty="0"/>
          </a:p>
          <a:p>
            <a:pPr marL="0" indent="0">
              <a:buNone/>
            </a:pPr>
            <a:r>
              <a:rPr lang="en-US" sz="1350" dirty="0">
                <a:solidFill>
                  <a:srgbClr val="1A1A1A"/>
                </a:solidFill>
                <a:latin typeface="Calibri" pitchFamily="34" charset="0"/>
                <a:ea typeface="Calibri" pitchFamily="34" charset="-122"/>
                <a:cs typeface="Calibri" pitchFamily="34" charset="-120"/>
              </a:rPr>
              <a:t>Cada variación: máx. 90 palabras. Primera línea = gancho que detiene el scroll. Cierra con el CTA. Sin hashtags.</a:t>
            </a:r>
            <a:endParaRPr lang="en-US" sz="1350" dirty="0"/>
          </a:p>
        </p:txBody>
      </p:sp>
      <p:sp>
        <p:nvSpPr>
          <p:cNvPr id="11" name="Shape 9"/>
          <p:cNvSpPr/>
          <p:nvPr/>
        </p:nvSpPr>
        <p:spPr>
          <a:xfrm>
            <a:off x="457200" y="4279387"/>
            <a:ext cx="8229600" cy="478572"/>
          </a:xfrm>
          <a:prstGeom prst="roundRect">
            <a:avLst>
              <a:gd name="adj" fmla="val 11111"/>
            </a:avLst>
          </a:prstGeom>
          <a:solidFill>
            <a:srgbClr val="EEF0F8"/>
          </a:solidFill>
          <a:ln/>
        </p:spPr>
        <p:txBody>
          <a:bodyPr/>
          <a:lstStyle/>
          <a:p>
            <a:endParaRPr lang="es-PE" sz="2800"/>
          </a:p>
        </p:txBody>
      </p:sp>
      <p:sp>
        <p:nvSpPr>
          <p:cNvPr id="12" name="Text 10"/>
          <p:cNvSpPr/>
          <p:nvPr/>
        </p:nvSpPr>
        <p:spPr>
          <a:xfrm>
            <a:off x="566928" y="4297674"/>
            <a:ext cx="8010144" cy="425397"/>
          </a:xfrm>
          <a:prstGeom prst="rect">
            <a:avLst/>
          </a:prstGeom>
          <a:noFill/>
          <a:ln/>
        </p:spPr>
        <p:txBody>
          <a:bodyPr wrap="square" rtlCol="0" anchor="ctr"/>
          <a:lstStyle/>
          <a:p>
            <a:pPr marL="0" indent="0">
              <a:buNone/>
            </a:pPr>
            <a:r>
              <a:rPr lang="en-US" sz="1200" dirty="0">
                <a:solidFill>
                  <a:srgbClr val="1E2D6B"/>
                </a:solidFill>
                <a:latin typeface="Calibri" pitchFamily="34" charset="0"/>
                <a:ea typeface="Calibri" pitchFamily="34" charset="-122"/>
                <a:cs typeface="Calibri" pitchFamily="34" charset="-120"/>
              </a:rPr>
              <a:t>Tarea diferenciada: elige el copy con mejor CTR potencial y escribe una segunda vuelta reduciendo 20 palabras sin perder gancho ni CTA.</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201168"/>
          </a:xfrm>
          <a:prstGeom prst="rect">
            <a:avLst/>
          </a:prstGeom>
          <a:noFill/>
          <a:ln/>
        </p:spPr>
        <p:txBody>
          <a:bodyPr wrap="square" rtlCol="0" anchor="ctr"/>
          <a:lstStyle/>
          <a:p>
            <a:pPr marL="0" indent="0">
              <a:buNone/>
            </a:pPr>
            <a:r>
              <a:rPr lang="en-US" sz="900" b="1" kern="0" spc="200" dirty="0">
                <a:solidFill>
                  <a:srgbClr val="F5C842"/>
                </a:solidFill>
                <a:latin typeface="Calibri" pitchFamily="34" charset="0"/>
                <a:ea typeface="Calibri" pitchFamily="34" charset="-122"/>
                <a:cs typeface="Calibri" pitchFamily="34" charset="-120"/>
              </a:rPr>
              <a:t>VITAMINAS TECNOLÓGICAS · CAPACITACIÓN IA</a:t>
            </a:r>
            <a:endParaRPr lang="en-US" sz="900" dirty="0"/>
          </a:p>
        </p:txBody>
      </p:sp>
      <p:sp>
        <p:nvSpPr>
          <p:cNvPr id="3" name="Text 1"/>
          <p:cNvSpPr/>
          <p:nvPr/>
        </p:nvSpPr>
        <p:spPr>
          <a:xfrm>
            <a:off x="6400800" y="4846320"/>
            <a:ext cx="2560320" cy="182880"/>
          </a:xfrm>
          <a:prstGeom prst="rect">
            <a:avLst/>
          </a:prstGeom>
          <a:noFill/>
          <a:ln/>
        </p:spPr>
        <p:txBody>
          <a:bodyPr wrap="square" rtlCol="0" anchor="ctr"/>
          <a:lstStyle/>
          <a:p>
            <a:pPr marL="0" indent="0" algn="r">
              <a:buNone/>
            </a:pPr>
            <a:r>
              <a:rPr lang="en-US" sz="800" dirty="0">
                <a:solidFill>
                  <a:srgbClr val="8899BB"/>
                </a:solidFill>
                <a:latin typeface="Calibri" pitchFamily="34" charset="0"/>
                <a:ea typeface="Calibri" pitchFamily="34" charset="-122"/>
                <a:cs typeface="Calibri" pitchFamily="34" charset="-120"/>
              </a:rPr>
              <a:t>BLOQUE 05 · SITUACIÓN C1B</a:t>
            </a:r>
            <a:endParaRPr lang="en-US" sz="800" dirty="0"/>
          </a:p>
        </p:txBody>
      </p:sp>
      <p:sp>
        <p:nvSpPr>
          <p:cNvPr id="4" name="Shape 2"/>
          <p:cNvSpPr/>
          <p:nvPr/>
        </p:nvSpPr>
        <p:spPr>
          <a:xfrm>
            <a:off x="457200" y="384048"/>
            <a:ext cx="2651760" cy="274320"/>
          </a:xfrm>
          <a:prstGeom prst="roundRect">
            <a:avLst>
              <a:gd name="adj" fmla="val 13333"/>
            </a:avLst>
          </a:prstGeom>
          <a:solidFill>
            <a:srgbClr val="F5C842"/>
          </a:solidFill>
          <a:ln/>
        </p:spPr>
        <p:txBody>
          <a:bodyPr/>
          <a:lstStyle/>
          <a:p>
            <a:endParaRPr lang="es-PE"/>
          </a:p>
        </p:txBody>
      </p:sp>
      <p:sp>
        <p:nvSpPr>
          <p:cNvPr id="5" name="Text 3"/>
          <p:cNvSpPr/>
          <p:nvPr/>
        </p:nvSpPr>
        <p:spPr>
          <a:xfrm>
            <a:off x="457200" y="393192"/>
            <a:ext cx="2651760" cy="256032"/>
          </a:xfrm>
          <a:prstGeom prst="rect">
            <a:avLst/>
          </a:prstGeom>
          <a:noFill/>
          <a:ln/>
        </p:spPr>
        <p:txBody>
          <a:bodyPr wrap="square" lIns="0" tIns="0" rIns="0" bIns="0" rtlCol="0" anchor="ctr"/>
          <a:lstStyle/>
          <a:p>
            <a:pPr marL="0" indent="0" algn="ctr">
              <a:buNone/>
            </a:pPr>
            <a:r>
              <a:rPr lang="en-US" sz="900" b="1" kern="0" spc="100" dirty="0">
                <a:solidFill>
                  <a:srgbClr val="121B3A"/>
                </a:solidFill>
                <a:latin typeface="Calibri" pitchFamily="34" charset="0"/>
                <a:ea typeface="Calibri" pitchFamily="34" charset="-122"/>
                <a:cs typeface="Calibri" pitchFamily="34" charset="-120"/>
              </a:rPr>
              <a:t>SITUACIÓN C1B — CONTENIDO</a:t>
            </a:r>
            <a:endParaRPr lang="en-US" sz="900" dirty="0"/>
          </a:p>
        </p:txBody>
      </p:sp>
      <p:sp>
        <p:nvSpPr>
          <p:cNvPr id="6" name="Text 4"/>
          <p:cNvSpPr/>
          <p:nvPr/>
        </p:nvSpPr>
        <p:spPr>
          <a:xfrm>
            <a:off x="457200" y="749808"/>
            <a:ext cx="8229600" cy="384048"/>
          </a:xfrm>
          <a:prstGeom prst="rect">
            <a:avLst/>
          </a:prstGeom>
          <a:noFill/>
          <a:ln/>
        </p:spPr>
        <p:txBody>
          <a:bodyPr wrap="square" rtlCol="0" anchor="ctr"/>
          <a:lstStyle/>
          <a:p>
            <a:pPr marL="0" indent="0">
              <a:buNone/>
            </a:pPr>
            <a:r>
              <a:rPr lang="en-US" sz="2400" b="1" dirty="0">
                <a:solidFill>
                  <a:srgbClr val="121B3A"/>
                </a:solidFill>
                <a:latin typeface="Cambria" pitchFamily="34" charset="0"/>
                <a:ea typeface="Cambria" pitchFamily="34" charset="-122"/>
                <a:cs typeface="Cambria" pitchFamily="34" charset="-120"/>
              </a:rPr>
              <a:t>10 captions para campaña de webinar</a:t>
            </a:r>
            <a:endParaRPr lang="en-US" sz="2400" dirty="0"/>
          </a:p>
        </p:txBody>
      </p:sp>
      <p:sp>
        <p:nvSpPr>
          <p:cNvPr id="7" name="Text 5"/>
          <p:cNvSpPr/>
          <p:nvPr/>
        </p:nvSpPr>
        <p:spPr>
          <a:xfrm>
            <a:off x="457200" y="1170432"/>
            <a:ext cx="8229600" cy="237744"/>
          </a:xfrm>
          <a:prstGeom prst="rect">
            <a:avLst/>
          </a:prstGeom>
          <a:noFill/>
          <a:ln/>
        </p:spPr>
        <p:txBody>
          <a:bodyPr wrap="square" rtlCol="0" anchor="ctr"/>
          <a:lstStyle/>
          <a:p>
            <a:pPr marL="0" indent="0">
              <a:buNone/>
            </a:pPr>
            <a:r>
              <a:rPr lang="en-US" sz="1300" dirty="0">
                <a:solidFill>
                  <a:srgbClr val="5A5F73"/>
                </a:solidFill>
                <a:latin typeface="Calibri" pitchFamily="34" charset="0"/>
                <a:ea typeface="Calibri" pitchFamily="34" charset="-122"/>
                <a:cs typeface="Calibri" pitchFamily="34" charset="-120"/>
              </a:rPr>
              <a:t>5 tonos distintos — 2 captions por tono</a:t>
            </a:r>
            <a:endParaRPr lang="en-US" sz="1300" dirty="0"/>
          </a:p>
        </p:txBody>
      </p:sp>
      <p:sp>
        <p:nvSpPr>
          <p:cNvPr id="8" name="Shape 6"/>
          <p:cNvSpPr/>
          <p:nvPr/>
        </p:nvSpPr>
        <p:spPr>
          <a:xfrm>
            <a:off x="457200" y="1508760"/>
            <a:ext cx="36576" cy="2884932"/>
          </a:xfrm>
          <a:prstGeom prst="rect">
            <a:avLst/>
          </a:prstGeom>
          <a:solidFill>
            <a:srgbClr val="F5C842"/>
          </a:solidFill>
          <a:ln w="12700">
            <a:solidFill>
              <a:srgbClr val="F5C842"/>
            </a:solidFill>
            <a:prstDash val="solid"/>
          </a:ln>
        </p:spPr>
        <p:txBody>
          <a:bodyPr/>
          <a:lstStyle/>
          <a:p>
            <a:endParaRPr lang="es-PE" sz="1400"/>
          </a:p>
        </p:txBody>
      </p:sp>
      <p:sp>
        <p:nvSpPr>
          <p:cNvPr id="9" name="Shape 7"/>
          <p:cNvSpPr/>
          <p:nvPr/>
        </p:nvSpPr>
        <p:spPr>
          <a:xfrm>
            <a:off x="493776" y="1508760"/>
            <a:ext cx="8193024" cy="2884932"/>
          </a:xfrm>
          <a:prstGeom prst="rect">
            <a:avLst/>
          </a:prstGeom>
          <a:solidFill>
            <a:srgbClr val="F7F7F9"/>
          </a:solidFill>
          <a:ln w="12700">
            <a:solidFill>
              <a:srgbClr val="E5E5EA"/>
            </a:solidFill>
            <a:prstDash val="solid"/>
          </a:ln>
        </p:spPr>
        <p:txBody>
          <a:bodyPr/>
          <a:lstStyle/>
          <a:p>
            <a:endParaRPr lang="es-PE" sz="1400"/>
          </a:p>
        </p:txBody>
      </p:sp>
      <p:sp>
        <p:nvSpPr>
          <p:cNvPr id="10" name="Text 8"/>
          <p:cNvSpPr/>
          <p:nvPr/>
        </p:nvSpPr>
        <p:spPr>
          <a:xfrm>
            <a:off x="585216" y="1581912"/>
            <a:ext cx="8046720" cy="2724658"/>
          </a:xfrm>
          <a:prstGeom prst="rect">
            <a:avLst/>
          </a:prstGeom>
          <a:noFill/>
          <a:ln/>
        </p:spPr>
        <p:txBody>
          <a:bodyPr wrap="square" rtlCol="0" anchor="t"/>
          <a:lstStyle/>
          <a:p>
            <a:pPr marL="0" indent="0">
              <a:buNone/>
            </a:pPr>
            <a:r>
              <a:rPr lang="en-US" sz="1400" dirty="0">
                <a:solidFill>
                  <a:srgbClr val="1A1A1A"/>
                </a:solidFill>
                <a:latin typeface="Calibri" pitchFamily="34" charset="0"/>
                <a:ea typeface="Calibri" pitchFamily="34" charset="-122"/>
                <a:cs typeface="Calibri" pitchFamily="34" charset="-120"/>
              </a:rPr>
              <a:t>Eres redactora de contenido para redes de Elite Expert Academy.</a:t>
            </a:r>
            <a:endParaRPr lang="en-US" sz="1400" dirty="0"/>
          </a:p>
          <a:p>
            <a:pPr marL="0" indent="0">
              <a:buNone/>
            </a:pPr>
            <a:endParaRPr lang="en-US" sz="1400" dirty="0"/>
          </a:p>
          <a:p>
            <a:pPr marL="0" indent="0">
              <a:buNone/>
            </a:pPr>
            <a:r>
              <a:rPr lang="en-US" sz="1400" dirty="0">
                <a:solidFill>
                  <a:srgbClr val="1A1A1A"/>
                </a:solidFill>
                <a:latin typeface="Calibri" pitchFamily="34" charset="0"/>
                <a:ea typeface="Calibri" pitchFamily="34" charset="-122"/>
                <a:cs typeface="Calibri" pitchFamily="34" charset="-120"/>
              </a:rPr>
              <a:t>Webinar: [NOMBRE DEL WEBINAR]  ·  Fecha: [FECHA Y HORA]</a:t>
            </a:r>
            <a:endParaRPr lang="en-US" sz="1400" dirty="0"/>
          </a:p>
          <a:p>
            <a:pPr marL="0" indent="0">
              <a:buNone/>
            </a:pPr>
            <a:r>
              <a:rPr lang="en-US" sz="1400" dirty="0">
                <a:solidFill>
                  <a:srgbClr val="1A1A1A"/>
                </a:solidFill>
                <a:latin typeface="Calibri" pitchFamily="34" charset="0"/>
                <a:ea typeface="Calibri" pitchFamily="34" charset="-122"/>
                <a:cs typeface="Calibri" pitchFamily="34" charset="-120"/>
              </a:rPr>
              <a:t>Público: [PÚBLICO OBJETIVO]  ·  Dolor: [DOLOR PRINCIPAL]</a:t>
            </a:r>
            <a:endParaRPr lang="en-US" sz="1400" dirty="0"/>
          </a:p>
          <a:p>
            <a:pPr marL="0" indent="0">
              <a:buNone/>
            </a:pPr>
            <a:r>
              <a:rPr lang="en-US" sz="1400" dirty="0">
                <a:solidFill>
                  <a:srgbClr val="1A1A1A"/>
                </a:solidFill>
                <a:latin typeface="Calibri" pitchFamily="34" charset="0"/>
                <a:ea typeface="Calibri" pitchFamily="34" charset="-122"/>
                <a:cs typeface="Calibri" pitchFamily="34" charset="-120"/>
              </a:rPr>
              <a:t>Beneficio: [BENEFICIO PRINCIPAL]  ·  CTA: [CTA PRINCIPAL]</a:t>
            </a:r>
            <a:endParaRPr lang="en-US" sz="1400" dirty="0"/>
          </a:p>
          <a:p>
            <a:pPr marL="0" indent="0">
              <a:buNone/>
            </a:pPr>
            <a:endParaRPr lang="en-US" sz="1400" dirty="0"/>
          </a:p>
          <a:p>
            <a:pPr marL="0" indent="0">
              <a:buNone/>
            </a:pPr>
            <a:r>
              <a:rPr lang="en-US" sz="1400" dirty="0">
                <a:solidFill>
                  <a:srgbClr val="1A1A1A"/>
                </a:solidFill>
                <a:latin typeface="Calibri" pitchFamily="34" charset="0"/>
                <a:ea typeface="Calibri" pitchFamily="34" charset="-122"/>
                <a:cs typeface="Calibri" pitchFamily="34" charset="-120"/>
              </a:rPr>
              <a:t>Escribe 10 captions para Instagram. 5 tonos, 2 captions por tono:</a:t>
            </a:r>
            <a:endParaRPr lang="en-US" sz="1400" dirty="0"/>
          </a:p>
          <a:p>
            <a:pPr marL="0" indent="0">
              <a:buNone/>
            </a:pPr>
            <a:r>
              <a:rPr lang="en-US" sz="1400" dirty="0">
                <a:solidFill>
                  <a:srgbClr val="1A1A1A"/>
                </a:solidFill>
                <a:latin typeface="Calibri" pitchFamily="34" charset="0"/>
                <a:ea typeface="Calibri" pitchFamily="34" charset="-122"/>
                <a:cs typeface="Calibri" pitchFamily="34" charset="-120"/>
              </a:rPr>
              <a:t>1. Urgencia (cupos / fecha límite)  2. Transformación (antes vs. después)</a:t>
            </a:r>
            <a:endParaRPr lang="en-US" sz="1400" dirty="0"/>
          </a:p>
          <a:p>
            <a:pPr marL="0" indent="0">
              <a:buNone/>
            </a:pPr>
            <a:r>
              <a:rPr lang="en-US" sz="1400" dirty="0">
                <a:solidFill>
                  <a:srgbClr val="1A1A1A"/>
                </a:solidFill>
                <a:latin typeface="Calibri" pitchFamily="34" charset="0"/>
                <a:ea typeface="Calibri" pitchFamily="34" charset="-122"/>
                <a:cs typeface="Calibri" pitchFamily="34" charset="-120"/>
              </a:rPr>
              <a:t>3. Comunidad (habla de 'nosotras')  4. Educativo (dato o tip de la técnica)</a:t>
            </a:r>
            <a:endParaRPr lang="en-US" sz="1400" dirty="0"/>
          </a:p>
          <a:p>
            <a:pPr marL="0" indent="0">
              <a:buNone/>
            </a:pPr>
            <a:r>
              <a:rPr lang="en-US" sz="1400" dirty="0">
                <a:solidFill>
                  <a:srgbClr val="1A1A1A"/>
                </a:solidFill>
                <a:latin typeface="Calibri" pitchFamily="34" charset="0"/>
                <a:ea typeface="Calibri" pitchFamily="34" charset="-122"/>
                <a:cs typeface="Calibri" pitchFamily="34" charset="-120"/>
              </a:rPr>
              <a:t>5. Directo (habla de frente, sin rodeos)</a:t>
            </a:r>
            <a:endParaRPr lang="en-US" sz="1400" dirty="0"/>
          </a:p>
          <a:p>
            <a:pPr marL="0" indent="0">
              <a:buNone/>
            </a:pPr>
            <a:endParaRPr lang="en-US" sz="1400" dirty="0"/>
          </a:p>
          <a:p>
            <a:pPr marL="0" indent="0">
              <a:buNone/>
            </a:pPr>
            <a:r>
              <a:rPr lang="en-US" sz="1400" dirty="0">
                <a:solidFill>
                  <a:srgbClr val="1A1A1A"/>
                </a:solidFill>
                <a:latin typeface="Calibri" pitchFamily="34" charset="0"/>
                <a:ea typeface="Calibri" pitchFamily="34" charset="-122"/>
                <a:cs typeface="Calibri" pitchFamily="34" charset="-120"/>
              </a:rPr>
              <a:t>Cada caption: 150-220 caracteres. Sin hashtags. Tono cercano y profesional.</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201168"/>
          </a:xfrm>
          <a:prstGeom prst="rect">
            <a:avLst/>
          </a:prstGeom>
          <a:noFill/>
          <a:ln/>
        </p:spPr>
        <p:txBody>
          <a:bodyPr wrap="square" rtlCol="0" anchor="ctr"/>
          <a:lstStyle/>
          <a:p>
            <a:pPr marL="0" indent="0">
              <a:buNone/>
            </a:pPr>
            <a:r>
              <a:rPr lang="en-US" sz="900" b="1" kern="0" spc="200" dirty="0">
                <a:solidFill>
                  <a:srgbClr val="F5C842"/>
                </a:solidFill>
                <a:latin typeface="Calibri" pitchFamily="34" charset="0"/>
                <a:ea typeface="Calibri" pitchFamily="34" charset="-122"/>
                <a:cs typeface="Calibri" pitchFamily="34" charset="-120"/>
              </a:rPr>
              <a:t>VITAMINAS TECNOLÓGICAS · CAPACITACIÓN IA</a:t>
            </a:r>
            <a:endParaRPr lang="en-US" sz="900" dirty="0"/>
          </a:p>
        </p:txBody>
      </p:sp>
      <p:sp>
        <p:nvSpPr>
          <p:cNvPr id="3" name="Text 1"/>
          <p:cNvSpPr/>
          <p:nvPr/>
        </p:nvSpPr>
        <p:spPr>
          <a:xfrm>
            <a:off x="6400800" y="4846320"/>
            <a:ext cx="2560320" cy="182880"/>
          </a:xfrm>
          <a:prstGeom prst="rect">
            <a:avLst/>
          </a:prstGeom>
          <a:noFill/>
          <a:ln/>
        </p:spPr>
        <p:txBody>
          <a:bodyPr wrap="square" rtlCol="0" anchor="ctr"/>
          <a:lstStyle/>
          <a:p>
            <a:pPr marL="0" indent="0" algn="r">
              <a:buNone/>
            </a:pPr>
            <a:r>
              <a:rPr lang="en-US" sz="800" dirty="0">
                <a:solidFill>
                  <a:srgbClr val="8899BB"/>
                </a:solidFill>
                <a:latin typeface="Calibri" pitchFamily="34" charset="0"/>
                <a:ea typeface="Calibri" pitchFamily="34" charset="-122"/>
                <a:cs typeface="Calibri" pitchFamily="34" charset="-120"/>
              </a:rPr>
              <a:t>BLOQUE 05 · SITUACIÓN C1C</a:t>
            </a:r>
            <a:endParaRPr lang="en-US" sz="800" dirty="0"/>
          </a:p>
        </p:txBody>
      </p:sp>
      <p:sp>
        <p:nvSpPr>
          <p:cNvPr id="4" name="Shape 2"/>
          <p:cNvSpPr/>
          <p:nvPr/>
        </p:nvSpPr>
        <p:spPr>
          <a:xfrm>
            <a:off x="457200" y="384048"/>
            <a:ext cx="2651760" cy="274320"/>
          </a:xfrm>
          <a:prstGeom prst="roundRect">
            <a:avLst>
              <a:gd name="adj" fmla="val 13333"/>
            </a:avLst>
          </a:prstGeom>
          <a:solidFill>
            <a:srgbClr val="1E2D6B"/>
          </a:solidFill>
          <a:ln/>
        </p:spPr>
        <p:txBody>
          <a:bodyPr/>
          <a:lstStyle/>
          <a:p>
            <a:endParaRPr lang="es-PE"/>
          </a:p>
        </p:txBody>
      </p:sp>
      <p:sp>
        <p:nvSpPr>
          <p:cNvPr id="5" name="Text 3"/>
          <p:cNvSpPr/>
          <p:nvPr/>
        </p:nvSpPr>
        <p:spPr>
          <a:xfrm>
            <a:off x="457200" y="393192"/>
            <a:ext cx="2651760" cy="256032"/>
          </a:xfrm>
          <a:prstGeom prst="rect">
            <a:avLst/>
          </a:prstGeom>
          <a:noFill/>
          <a:ln/>
        </p:spPr>
        <p:txBody>
          <a:bodyPr wrap="square" lIns="0" tIns="0" rIns="0" bIns="0" rtlCol="0" anchor="ctr"/>
          <a:lstStyle/>
          <a:p>
            <a:pPr marL="0" indent="0" algn="ctr">
              <a:buNone/>
            </a:pPr>
            <a:r>
              <a:rPr lang="en-US" sz="900" b="1" kern="0" spc="100" dirty="0">
                <a:solidFill>
                  <a:srgbClr val="F5C842"/>
                </a:solidFill>
                <a:latin typeface="Calibri" pitchFamily="34" charset="0"/>
                <a:ea typeface="Calibri" pitchFamily="34" charset="-122"/>
                <a:cs typeface="Calibri" pitchFamily="34" charset="-120"/>
              </a:rPr>
              <a:t>SITUACIÓN C1C — AUDIOVISUAL</a:t>
            </a:r>
            <a:endParaRPr lang="en-US" sz="900" dirty="0"/>
          </a:p>
        </p:txBody>
      </p:sp>
      <p:sp>
        <p:nvSpPr>
          <p:cNvPr id="6" name="Text 4"/>
          <p:cNvSpPr/>
          <p:nvPr/>
        </p:nvSpPr>
        <p:spPr>
          <a:xfrm>
            <a:off x="457200" y="749808"/>
            <a:ext cx="8229600" cy="384048"/>
          </a:xfrm>
          <a:prstGeom prst="rect">
            <a:avLst/>
          </a:prstGeom>
          <a:noFill/>
          <a:ln/>
        </p:spPr>
        <p:txBody>
          <a:bodyPr wrap="square" rtlCol="0" anchor="ctr"/>
          <a:lstStyle/>
          <a:p>
            <a:pPr marL="0" indent="0">
              <a:buNone/>
            </a:pPr>
            <a:r>
              <a:rPr lang="en-US" sz="2400" b="1" dirty="0">
                <a:solidFill>
                  <a:srgbClr val="121B3A"/>
                </a:solidFill>
                <a:latin typeface="Cambria" pitchFamily="34" charset="0"/>
                <a:ea typeface="Cambria" pitchFamily="34" charset="-122"/>
                <a:cs typeface="Cambria" pitchFamily="34" charset="-120"/>
              </a:rPr>
              <a:t>Guión de reel de 30 segundos</a:t>
            </a:r>
            <a:endParaRPr lang="en-US" sz="2400" dirty="0"/>
          </a:p>
        </p:txBody>
      </p:sp>
      <p:sp>
        <p:nvSpPr>
          <p:cNvPr id="7" name="Text 5"/>
          <p:cNvSpPr/>
          <p:nvPr/>
        </p:nvSpPr>
        <p:spPr>
          <a:xfrm>
            <a:off x="457200" y="1234041"/>
            <a:ext cx="8229600" cy="237744"/>
          </a:xfrm>
          <a:prstGeom prst="rect">
            <a:avLst/>
          </a:prstGeom>
          <a:noFill/>
          <a:ln/>
        </p:spPr>
        <p:txBody>
          <a:bodyPr wrap="square" rtlCol="0" anchor="ctr"/>
          <a:lstStyle/>
          <a:p>
            <a:pPr marL="0" indent="0">
              <a:buNone/>
            </a:pPr>
            <a:r>
              <a:rPr lang="en-US" sz="1600" dirty="0">
                <a:solidFill>
                  <a:srgbClr val="5A5F73"/>
                </a:solidFill>
                <a:latin typeface="Calibri" pitchFamily="34" charset="0"/>
                <a:ea typeface="Calibri" pitchFamily="34" charset="-122"/>
                <a:cs typeface="Calibri" pitchFamily="34" charset="-120"/>
              </a:rPr>
              <a:t>Gancho (0-5 s) + Desarrollo (5-25 s) + CTA (25-30 s)</a:t>
            </a:r>
            <a:endParaRPr lang="en-US" sz="1600" dirty="0"/>
          </a:p>
        </p:txBody>
      </p:sp>
      <p:sp>
        <p:nvSpPr>
          <p:cNvPr id="8" name="Shape 6"/>
          <p:cNvSpPr/>
          <p:nvPr/>
        </p:nvSpPr>
        <p:spPr>
          <a:xfrm>
            <a:off x="457200" y="1675736"/>
            <a:ext cx="36576" cy="2824701"/>
          </a:xfrm>
          <a:prstGeom prst="rect">
            <a:avLst/>
          </a:prstGeom>
          <a:solidFill>
            <a:srgbClr val="F5C842"/>
          </a:solidFill>
          <a:ln w="12700">
            <a:solidFill>
              <a:srgbClr val="F5C842"/>
            </a:solidFill>
            <a:prstDash val="solid"/>
          </a:ln>
        </p:spPr>
        <p:txBody>
          <a:bodyPr/>
          <a:lstStyle/>
          <a:p>
            <a:endParaRPr lang="es-PE" sz="2400"/>
          </a:p>
        </p:txBody>
      </p:sp>
      <p:sp>
        <p:nvSpPr>
          <p:cNvPr id="9" name="Shape 7"/>
          <p:cNvSpPr/>
          <p:nvPr/>
        </p:nvSpPr>
        <p:spPr>
          <a:xfrm>
            <a:off x="493776" y="1675736"/>
            <a:ext cx="8193024" cy="2824701"/>
          </a:xfrm>
          <a:prstGeom prst="rect">
            <a:avLst/>
          </a:prstGeom>
          <a:solidFill>
            <a:srgbClr val="F7F7F9"/>
          </a:solidFill>
          <a:ln w="12700">
            <a:solidFill>
              <a:srgbClr val="E5E5EA"/>
            </a:solidFill>
            <a:prstDash val="solid"/>
          </a:ln>
        </p:spPr>
        <p:txBody>
          <a:bodyPr/>
          <a:lstStyle/>
          <a:p>
            <a:endParaRPr lang="es-PE" sz="2400"/>
          </a:p>
        </p:txBody>
      </p:sp>
      <p:sp>
        <p:nvSpPr>
          <p:cNvPr id="10" name="Text 8"/>
          <p:cNvSpPr/>
          <p:nvPr/>
        </p:nvSpPr>
        <p:spPr>
          <a:xfrm>
            <a:off x="585216" y="1748888"/>
            <a:ext cx="8046720" cy="2667773"/>
          </a:xfrm>
          <a:prstGeom prst="rect">
            <a:avLst/>
          </a:prstGeom>
          <a:noFill/>
          <a:ln/>
        </p:spPr>
        <p:txBody>
          <a:bodyPr wrap="square" rtlCol="0" anchor="t"/>
          <a:lstStyle/>
          <a:p>
            <a:pPr marL="0" indent="0">
              <a:buNone/>
            </a:pPr>
            <a:r>
              <a:rPr lang="en-US" sz="1400" dirty="0">
                <a:solidFill>
                  <a:srgbClr val="1A1A1A"/>
                </a:solidFill>
                <a:latin typeface="Calibri" pitchFamily="34" charset="0"/>
                <a:ea typeface="Calibri" pitchFamily="34" charset="-122"/>
                <a:cs typeface="Calibri" pitchFamily="34" charset="-120"/>
              </a:rPr>
              <a:t>Eres guionista de contenido audiovisual para redes sociales.</a:t>
            </a:r>
            <a:endParaRPr lang="en-US" sz="1400" dirty="0"/>
          </a:p>
          <a:p>
            <a:pPr marL="0" indent="0">
              <a:buNone/>
            </a:pPr>
            <a:endParaRPr lang="en-US" sz="1400" dirty="0"/>
          </a:p>
          <a:p>
            <a:pPr marL="0" indent="0">
              <a:buNone/>
            </a:pPr>
            <a:r>
              <a:rPr lang="en-US" sz="1400" dirty="0">
                <a:solidFill>
                  <a:srgbClr val="1A1A1A"/>
                </a:solidFill>
                <a:latin typeface="Calibri" pitchFamily="34" charset="0"/>
                <a:ea typeface="Calibri" pitchFamily="34" charset="-122"/>
                <a:cs typeface="Calibri" pitchFamily="34" charset="-120"/>
              </a:rPr>
              <a:t>Webinar: [NOMBRE DEL WEBINAR]  ·  Fecha: [FECHA Y HORA]</a:t>
            </a:r>
            <a:endParaRPr lang="en-US" sz="1400" dirty="0"/>
          </a:p>
          <a:p>
            <a:pPr marL="0" indent="0">
              <a:buNone/>
            </a:pPr>
            <a:r>
              <a:rPr lang="en-US" sz="1400" dirty="0">
                <a:solidFill>
                  <a:srgbClr val="1A1A1A"/>
                </a:solidFill>
                <a:latin typeface="Calibri" pitchFamily="34" charset="0"/>
                <a:ea typeface="Calibri" pitchFamily="34" charset="-122"/>
                <a:cs typeface="Calibri" pitchFamily="34" charset="-120"/>
              </a:rPr>
              <a:t>Público: [PÚBLICO OBJETIVO]  ·  Dolor: [DOLOR PRINCIPAL]</a:t>
            </a:r>
            <a:endParaRPr lang="en-US" sz="1400" dirty="0"/>
          </a:p>
          <a:p>
            <a:pPr marL="0" indent="0">
              <a:buNone/>
            </a:pPr>
            <a:r>
              <a:rPr lang="en-US" sz="1400" dirty="0">
                <a:solidFill>
                  <a:srgbClr val="1A1A1A"/>
                </a:solidFill>
                <a:latin typeface="Calibri" pitchFamily="34" charset="0"/>
                <a:ea typeface="Calibri" pitchFamily="34" charset="-122"/>
                <a:cs typeface="Calibri" pitchFamily="34" charset="-120"/>
              </a:rPr>
              <a:t>Beneficio: [BENEFICIO PRINCIPAL]  ·  CTA: [CTA PRINCIPAL]</a:t>
            </a:r>
            <a:endParaRPr lang="en-US" sz="1400" dirty="0"/>
          </a:p>
          <a:p>
            <a:pPr marL="0" indent="0">
              <a:buNone/>
            </a:pPr>
            <a:endParaRPr lang="en-US" sz="1400" dirty="0"/>
          </a:p>
          <a:p>
            <a:pPr marL="0" indent="0">
              <a:buNone/>
            </a:pPr>
            <a:r>
              <a:rPr lang="en-US" sz="1400" dirty="0">
                <a:solidFill>
                  <a:srgbClr val="1A1A1A"/>
                </a:solidFill>
                <a:latin typeface="Calibri" pitchFamily="34" charset="0"/>
                <a:ea typeface="Calibri" pitchFamily="34" charset="-122"/>
                <a:cs typeface="Calibri" pitchFamily="34" charset="-120"/>
              </a:rPr>
              <a:t>Escribe el guión de un reel de 30 segundos:</a:t>
            </a:r>
            <a:endParaRPr lang="en-US" sz="1400" dirty="0"/>
          </a:p>
          <a:p>
            <a:pPr marL="0" indent="0">
              <a:buNone/>
            </a:pPr>
            <a:r>
              <a:rPr lang="en-US" sz="1400" dirty="0">
                <a:solidFill>
                  <a:srgbClr val="1A1A1A"/>
                </a:solidFill>
                <a:latin typeface="Calibri" pitchFamily="34" charset="0"/>
                <a:ea typeface="Calibri" pitchFamily="34" charset="-122"/>
                <a:cs typeface="Calibri" pitchFamily="34" charset="-120"/>
              </a:rPr>
              <a:t>- Gancho (0-5 s): pregunta o afirmación que detiene el scroll.</a:t>
            </a:r>
            <a:endParaRPr lang="en-US" sz="1400" dirty="0"/>
          </a:p>
          <a:p>
            <a:pPr marL="0" indent="0">
              <a:buNone/>
            </a:pPr>
            <a:r>
              <a:rPr lang="en-US" sz="1400" dirty="0">
                <a:solidFill>
                  <a:srgbClr val="1A1A1A"/>
                </a:solidFill>
                <a:latin typeface="Calibri" pitchFamily="34" charset="0"/>
                <a:ea typeface="Calibri" pitchFamily="34" charset="-122"/>
                <a:cs typeface="Calibri" pitchFamily="34" charset="-120"/>
              </a:rPr>
              <a:t>- Desarrollo (5-25 s): 2-3 frases que explican el beneficio.</a:t>
            </a:r>
            <a:endParaRPr lang="en-US" sz="1400" dirty="0"/>
          </a:p>
          <a:p>
            <a:pPr marL="0" indent="0">
              <a:buNone/>
            </a:pPr>
            <a:r>
              <a:rPr lang="en-US" sz="1400" dirty="0">
                <a:solidFill>
                  <a:srgbClr val="1A1A1A"/>
                </a:solidFill>
                <a:latin typeface="Calibri" pitchFamily="34" charset="0"/>
                <a:ea typeface="Calibri" pitchFamily="34" charset="-122"/>
                <a:cs typeface="Calibri" pitchFamily="34" charset="-120"/>
              </a:rPr>
              <a:t>- CTA (25-30 s): acción clara con el CTA del brief.</a:t>
            </a:r>
            <a:endParaRPr lang="en-US" sz="1400" dirty="0"/>
          </a:p>
          <a:p>
            <a:pPr marL="0" indent="0">
              <a:buNone/>
            </a:pPr>
            <a:endParaRPr lang="en-US" sz="1400" dirty="0"/>
          </a:p>
          <a:p>
            <a:pPr marL="0" indent="0">
              <a:buNone/>
            </a:pPr>
            <a:r>
              <a:rPr lang="en-US" sz="1400" dirty="0">
                <a:solidFill>
                  <a:srgbClr val="1A1A1A"/>
                </a:solidFill>
                <a:latin typeface="Calibri" pitchFamily="34" charset="0"/>
                <a:ea typeface="Calibri" pitchFamily="34" charset="-122"/>
                <a:cs typeface="Calibri" pitchFamily="34" charset="-120"/>
              </a:rPr>
              <a:t>Formato: tabla con columnas 'Tiempo', 'Texto en pantalla' y 'Nota de producción'.</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1B3A"/>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201168"/>
          </a:xfrm>
          <a:prstGeom prst="rect">
            <a:avLst/>
          </a:prstGeom>
          <a:noFill/>
          <a:ln/>
        </p:spPr>
        <p:txBody>
          <a:bodyPr wrap="square" rtlCol="0" anchor="ctr"/>
          <a:lstStyle/>
          <a:p>
            <a:pPr marL="0" indent="0">
              <a:buNone/>
            </a:pPr>
            <a:r>
              <a:rPr lang="en-US" sz="900" b="1" kern="0" spc="200" dirty="0">
                <a:solidFill>
                  <a:srgbClr val="F5C842"/>
                </a:solidFill>
                <a:latin typeface="Calibri" pitchFamily="34" charset="0"/>
                <a:ea typeface="Calibri" pitchFamily="34" charset="-122"/>
                <a:cs typeface="Calibri" pitchFamily="34" charset="-120"/>
              </a:rPr>
              <a:t>VITAMINAS TECNOLÓGICAS · CAPACITACIÓN IA</a:t>
            </a:r>
            <a:endParaRPr lang="en-US" sz="900" dirty="0"/>
          </a:p>
        </p:txBody>
      </p:sp>
      <p:sp>
        <p:nvSpPr>
          <p:cNvPr id="3" name="Text 1"/>
          <p:cNvSpPr/>
          <p:nvPr/>
        </p:nvSpPr>
        <p:spPr>
          <a:xfrm>
            <a:off x="6400800" y="4846320"/>
            <a:ext cx="2560320" cy="182880"/>
          </a:xfrm>
          <a:prstGeom prst="rect">
            <a:avLst/>
          </a:prstGeom>
          <a:noFill/>
          <a:ln/>
        </p:spPr>
        <p:txBody>
          <a:bodyPr wrap="square" rtlCol="0" anchor="ctr"/>
          <a:lstStyle/>
          <a:p>
            <a:pPr marL="0" indent="0" algn="r">
              <a:buNone/>
            </a:pPr>
            <a:r>
              <a:rPr lang="en-US" sz="800" dirty="0">
                <a:solidFill>
                  <a:srgbClr val="8899BB"/>
                </a:solidFill>
                <a:latin typeface="Calibri" pitchFamily="34" charset="0"/>
                <a:ea typeface="Calibri" pitchFamily="34" charset="-122"/>
                <a:cs typeface="Calibri" pitchFamily="34" charset="-120"/>
              </a:rPr>
              <a:t>BLOQUE 05 · MOMENTO 2</a:t>
            </a:r>
            <a:endParaRPr lang="en-US" sz="800" dirty="0"/>
          </a:p>
        </p:txBody>
      </p:sp>
      <p:sp>
        <p:nvSpPr>
          <p:cNvPr id="4" name="Shape 2"/>
          <p:cNvSpPr/>
          <p:nvPr/>
        </p:nvSpPr>
        <p:spPr>
          <a:xfrm>
            <a:off x="457200" y="384048"/>
            <a:ext cx="2926080" cy="274320"/>
          </a:xfrm>
          <a:prstGeom prst="roundRect">
            <a:avLst>
              <a:gd name="adj" fmla="val 13333"/>
            </a:avLst>
          </a:prstGeom>
          <a:solidFill>
            <a:srgbClr val="1B5E20"/>
          </a:solidFill>
          <a:ln/>
        </p:spPr>
        <p:txBody>
          <a:bodyPr/>
          <a:lstStyle/>
          <a:p>
            <a:endParaRPr lang="es-PE" sz="1200"/>
          </a:p>
        </p:txBody>
      </p:sp>
      <p:sp>
        <p:nvSpPr>
          <p:cNvPr id="5" name="Text 3"/>
          <p:cNvSpPr/>
          <p:nvPr/>
        </p:nvSpPr>
        <p:spPr>
          <a:xfrm>
            <a:off x="457200" y="393192"/>
            <a:ext cx="2926080" cy="256032"/>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MOMENTO 2 — CONECTAR CON DRIVE</a:t>
            </a:r>
            <a:endParaRPr lang="en-US" sz="1200" dirty="0"/>
          </a:p>
        </p:txBody>
      </p:sp>
      <p:sp>
        <p:nvSpPr>
          <p:cNvPr id="6" name="Text 4"/>
          <p:cNvSpPr/>
          <p:nvPr/>
        </p:nvSpPr>
        <p:spPr>
          <a:xfrm>
            <a:off x="457200" y="749808"/>
            <a:ext cx="8229600" cy="438912"/>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Tu archivo real — sin copiar, sin pegar</a:t>
            </a:r>
            <a:endParaRPr lang="en-US" sz="1400" dirty="0"/>
          </a:p>
        </p:txBody>
      </p:sp>
      <p:sp>
        <p:nvSpPr>
          <p:cNvPr id="7" name="Text 5"/>
          <p:cNvSpPr/>
          <p:nvPr/>
        </p:nvSpPr>
        <p:spPr>
          <a:xfrm>
            <a:off x="457200" y="1243584"/>
            <a:ext cx="8229600" cy="256032"/>
          </a:xfrm>
          <a:prstGeom prst="rect">
            <a:avLst/>
          </a:prstGeom>
          <a:noFill/>
          <a:ln/>
        </p:spPr>
        <p:txBody>
          <a:bodyPr wrap="square" rtlCol="0" anchor="ctr"/>
          <a:lstStyle/>
          <a:p>
            <a:pPr marL="0" indent="0">
              <a:buNone/>
            </a:pPr>
            <a:r>
              <a:rPr lang="en-US" sz="1400" dirty="0">
                <a:solidFill>
                  <a:srgbClr val="A0AACC"/>
                </a:solidFill>
                <a:latin typeface="Calibri" pitchFamily="34" charset="0"/>
                <a:ea typeface="Calibri" pitchFamily="34" charset="-122"/>
                <a:cs typeface="Calibri" pitchFamily="34" charset="-120"/>
              </a:rPr>
              <a:t>La instructora hace la demo primero. Luego cada persona lo intenta con sus propios archivos.</a:t>
            </a:r>
            <a:endParaRPr lang="en-US" sz="1400" dirty="0"/>
          </a:p>
        </p:txBody>
      </p:sp>
      <p:sp>
        <p:nvSpPr>
          <p:cNvPr id="8" name="Shape 6"/>
          <p:cNvSpPr/>
          <p:nvPr/>
        </p:nvSpPr>
        <p:spPr>
          <a:xfrm>
            <a:off x="457200" y="1664208"/>
            <a:ext cx="2651760" cy="2743200"/>
          </a:xfrm>
          <a:prstGeom prst="roundRect">
            <a:avLst>
              <a:gd name="adj" fmla="val 2759"/>
            </a:avLst>
          </a:prstGeom>
          <a:solidFill>
            <a:srgbClr val="1E2D6B"/>
          </a:solidFill>
          <a:ln w="12700">
            <a:solidFill>
              <a:srgbClr val="3A5295"/>
            </a:solidFill>
            <a:prstDash val="solid"/>
          </a:ln>
        </p:spPr>
        <p:txBody>
          <a:bodyPr/>
          <a:lstStyle/>
          <a:p>
            <a:endParaRPr lang="es-PE" sz="1200"/>
          </a:p>
        </p:txBody>
      </p:sp>
      <p:sp>
        <p:nvSpPr>
          <p:cNvPr id="9" name="Shape 7"/>
          <p:cNvSpPr/>
          <p:nvPr/>
        </p:nvSpPr>
        <p:spPr>
          <a:xfrm>
            <a:off x="594360" y="1810512"/>
            <a:ext cx="914400" cy="292608"/>
          </a:xfrm>
          <a:prstGeom prst="roundRect">
            <a:avLst>
              <a:gd name="adj" fmla="val 12500"/>
            </a:avLst>
          </a:prstGeom>
          <a:solidFill>
            <a:srgbClr val="F5C842"/>
          </a:solidFill>
          <a:ln/>
        </p:spPr>
        <p:txBody>
          <a:bodyPr/>
          <a:lstStyle/>
          <a:p>
            <a:endParaRPr lang="es-PE" sz="1400"/>
          </a:p>
        </p:txBody>
      </p:sp>
      <p:sp>
        <p:nvSpPr>
          <p:cNvPr id="10" name="Text 8"/>
          <p:cNvSpPr/>
          <p:nvPr/>
        </p:nvSpPr>
        <p:spPr>
          <a:xfrm>
            <a:off x="594360" y="1815084"/>
            <a:ext cx="914400" cy="283464"/>
          </a:xfrm>
          <a:prstGeom prst="rect">
            <a:avLst/>
          </a:prstGeom>
          <a:noFill/>
          <a:ln/>
        </p:spPr>
        <p:txBody>
          <a:bodyPr wrap="square" lIns="0" tIns="0" rIns="0" bIns="0" rtlCol="0" anchor="ctr"/>
          <a:lstStyle/>
          <a:p>
            <a:pPr marL="0" indent="0" algn="ctr">
              <a:buNone/>
            </a:pPr>
            <a:r>
              <a:rPr lang="en-US" sz="1400" b="1" dirty="0">
                <a:solidFill>
                  <a:srgbClr val="121B3A"/>
                </a:solidFill>
                <a:latin typeface="Calibri" pitchFamily="34" charset="0"/>
                <a:ea typeface="Calibri" pitchFamily="34" charset="-122"/>
                <a:cs typeface="Calibri" pitchFamily="34" charset="-120"/>
              </a:rPr>
              <a:t>C1A</a:t>
            </a:r>
            <a:endParaRPr lang="en-US" sz="1400" dirty="0"/>
          </a:p>
        </p:txBody>
      </p:sp>
      <p:sp>
        <p:nvSpPr>
          <p:cNvPr id="11" name="Text 9"/>
          <p:cNvSpPr/>
          <p:nvPr/>
        </p:nvSpPr>
        <p:spPr>
          <a:xfrm>
            <a:off x="594360" y="2176272"/>
            <a:ext cx="2377440" cy="274320"/>
          </a:xfrm>
          <a:prstGeom prst="rect">
            <a:avLst/>
          </a:prstGeom>
          <a:noFill/>
          <a:ln/>
        </p:spPr>
        <p:txBody>
          <a:bodyPr wrap="square" rtlCol="0" anchor="ctr"/>
          <a:lstStyle/>
          <a:p>
            <a:pPr marL="0" indent="0">
              <a:buNone/>
            </a:pPr>
            <a:r>
              <a:rPr lang="en-US" sz="1600" b="1" dirty="0">
                <a:solidFill>
                  <a:srgbClr val="F5C842"/>
                </a:solidFill>
                <a:latin typeface="Cambria" pitchFamily="34" charset="0"/>
                <a:ea typeface="Cambria" pitchFamily="34" charset="-122"/>
                <a:cs typeface="Cambria" pitchFamily="34" charset="-120"/>
              </a:rPr>
              <a:t>Tráfico</a:t>
            </a:r>
            <a:endParaRPr lang="en-US" sz="1600" dirty="0"/>
          </a:p>
        </p:txBody>
      </p:sp>
      <p:sp>
        <p:nvSpPr>
          <p:cNvPr id="12" name="Text 10"/>
          <p:cNvSpPr/>
          <p:nvPr/>
        </p:nvSpPr>
        <p:spPr>
          <a:xfrm>
            <a:off x="594360" y="2487168"/>
            <a:ext cx="2377440" cy="1645920"/>
          </a:xfrm>
          <a:prstGeom prst="rect">
            <a:avLst/>
          </a:prstGeom>
          <a:noFill/>
          <a:ln/>
        </p:spPr>
        <p:txBody>
          <a:bodyPr wrap="square" rtlCol="0" anchor="t"/>
          <a:lstStyle/>
          <a:p>
            <a:pPr marL="0" indent="0">
              <a:buNone/>
            </a:pPr>
            <a:r>
              <a:rPr lang="en-US" sz="1600" dirty="0">
                <a:solidFill>
                  <a:srgbClr val="C0C8E8"/>
                </a:solidFill>
                <a:latin typeface="Calibri" pitchFamily="34" charset="0"/>
                <a:ea typeface="Calibri" pitchFamily="34" charset="-122"/>
                <a:cs typeface="Calibri" pitchFamily="34" charset="-120"/>
              </a:rPr>
              <a:t>Pega el copy de un anuncio que ya está corriendo. La IA genera 3 variaciones A/B desde ese punto de partida real.</a:t>
            </a:r>
            <a:endParaRPr lang="en-US" sz="1600" dirty="0"/>
          </a:p>
        </p:txBody>
      </p:sp>
      <p:sp>
        <p:nvSpPr>
          <p:cNvPr id="13" name="Shape 11"/>
          <p:cNvSpPr/>
          <p:nvPr/>
        </p:nvSpPr>
        <p:spPr>
          <a:xfrm>
            <a:off x="3291840" y="1664208"/>
            <a:ext cx="2651760" cy="2743200"/>
          </a:xfrm>
          <a:prstGeom prst="roundRect">
            <a:avLst>
              <a:gd name="adj" fmla="val 2759"/>
            </a:avLst>
          </a:prstGeom>
          <a:solidFill>
            <a:srgbClr val="1E2D6B"/>
          </a:solidFill>
          <a:ln w="12700">
            <a:solidFill>
              <a:srgbClr val="3A5295"/>
            </a:solidFill>
            <a:prstDash val="solid"/>
          </a:ln>
        </p:spPr>
        <p:txBody>
          <a:bodyPr/>
          <a:lstStyle/>
          <a:p>
            <a:endParaRPr lang="es-PE" sz="1200"/>
          </a:p>
        </p:txBody>
      </p:sp>
      <p:sp>
        <p:nvSpPr>
          <p:cNvPr id="14" name="Shape 12"/>
          <p:cNvSpPr/>
          <p:nvPr/>
        </p:nvSpPr>
        <p:spPr>
          <a:xfrm>
            <a:off x="3429000" y="1810512"/>
            <a:ext cx="914400" cy="292608"/>
          </a:xfrm>
          <a:prstGeom prst="roundRect">
            <a:avLst>
              <a:gd name="adj" fmla="val 12500"/>
            </a:avLst>
          </a:prstGeom>
          <a:solidFill>
            <a:srgbClr val="A8D5A2"/>
          </a:solidFill>
          <a:ln/>
        </p:spPr>
        <p:txBody>
          <a:bodyPr/>
          <a:lstStyle/>
          <a:p>
            <a:endParaRPr lang="es-PE" sz="1400"/>
          </a:p>
        </p:txBody>
      </p:sp>
      <p:sp>
        <p:nvSpPr>
          <p:cNvPr id="15" name="Text 13"/>
          <p:cNvSpPr/>
          <p:nvPr/>
        </p:nvSpPr>
        <p:spPr>
          <a:xfrm>
            <a:off x="3429000" y="1815084"/>
            <a:ext cx="914400" cy="283464"/>
          </a:xfrm>
          <a:prstGeom prst="rect">
            <a:avLst/>
          </a:prstGeom>
          <a:noFill/>
          <a:ln/>
        </p:spPr>
        <p:txBody>
          <a:bodyPr wrap="square" lIns="0" tIns="0" rIns="0" bIns="0" rtlCol="0" anchor="ctr"/>
          <a:lstStyle/>
          <a:p>
            <a:pPr marL="0" indent="0" algn="ctr">
              <a:buNone/>
            </a:pPr>
            <a:r>
              <a:rPr lang="en-US" sz="1200" b="1" dirty="0">
                <a:solidFill>
                  <a:srgbClr val="1B3A1F"/>
                </a:solidFill>
                <a:latin typeface="Calibri" pitchFamily="34" charset="0"/>
                <a:ea typeface="Calibri" pitchFamily="34" charset="-122"/>
                <a:cs typeface="Calibri" pitchFamily="34" charset="-120"/>
              </a:rPr>
              <a:t>C1B</a:t>
            </a:r>
            <a:endParaRPr lang="en-US" sz="1200" dirty="0"/>
          </a:p>
        </p:txBody>
      </p:sp>
      <p:sp>
        <p:nvSpPr>
          <p:cNvPr id="16" name="Text 14"/>
          <p:cNvSpPr/>
          <p:nvPr/>
        </p:nvSpPr>
        <p:spPr>
          <a:xfrm>
            <a:off x="3429000" y="2176272"/>
            <a:ext cx="2377440" cy="274320"/>
          </a:xfrm>
          <a:prstGeom prst="rect">
            <a:avLst/>
          </a:prstGeom>
          <a:noFill/>
          <a:ln/>
        </p:spPr>
        <p:txBody>
          <a:bodyPr wrap="square" rtlCol="0" anchor="ctr"/>
          <a:lstStyle/>
          <a:p>
            <a:pPr marL="0" indent="0">
              <a:buNone/>
            </a:pPr>
            <a:r>
              <a:rPr lang="en-US" sz="1600" b="1" dirty="0">
                <a:solidFill>
                  <a:srgbClr val="F5C842"/>
                </a:solidFill>
                <a:latin typeface="Cambria" pitchFamily="34" charset="0"/>
                <a:ea typeface="Cambria" pitchFamily="34" charset="-122"/>
                <a:cs typeface="Cambria" pitchFamily="34" charset="-120"/>
              </a:rPr>
              <a:t>Contenido</a:t>
            </a:r>
            <a:endParaRPr lang="en-US" sz="1600" dirty="0"/>
          </a:p>
        </p:txBody>
      </p:sp>
      <p:sp>
        <p:nvSpPr>
          <p:cNvPr id="17" name="Text 15"/>
          <p:cNvSpPr/>
          <p:nvPr/>
        </p:nvSpPr>
        <p:spPr>
          <a:xfrm>
            <a:off x="3429000" y="2487168"/>
            <a:ext cx="2377440" cy="1645920"/>
          </a:xfrm>
          <a:prstGeom prst="rect">
            <a:avLst/>
          </a:prstGeom>
          <a:noFill/>
          <a:ln/>
        </p:spPr>
        <p:txBody>
          <a:bodyPr wrap="square" rtlCol="0" anchor="t"/>
          <a:lstStyle/>
          <a:p>
            <a:pPr marL="0" indent="0">
              <a:buNone/>
            </a:pPr>
            <a:r>
              <a:rPr lang="en-US" sz="1600" dirty="0">
                <a:solidFill>
                  <a:srgbClr val="C0C8E8"/>
                </a:solidFill>
                <a:latin typeface="Calibri" pitchFamily="34" charset="0"/>
                <a:ea typeface="Calibri" pitchFamily="34" charset="-122"/>
                <a:cs typeface="Calibri" pitchFamily="34" charset="-120"/>
              </a:rPr>
              <a:t>Abre el documento de objetivos o resumen del mes anterior desde Drive. La IA genera el plan de contenido del mes completo.</a:t>
            </a:r>
            <a:endParaRPr lang="en-US" sz="1600" dirty="0"/>
          </a:p>
        </p:txBody>
      </p:sp>
      <p:sp>
        <p:nvSpPr>
          <p:cNvPr id="18" name="Shape 16"/>
          <p:cNvSpPr/>
          <p:nvPr/>
        </p:nvSpPr>
        <p:spPr>
          <a:xfrm>
            <a:off x="6126480" y="1664208"/>
            <a:ext cx="2651760" cy="2743200"/>
          </a:xfrm>
          <a:prstGeom prst="roundRect">
            <a:avLst>
              <a:gd name="adj" fmla="val 2759"/>
            </a:avLst>
          </a:prstGeom>
          <a:solidFill>
            <a:srgbClr val="1E2D6B"/>
          </a:solidFill>
          <a:ln w="12700">
            <a:solidFill>
              <a:srgbClr val="3A5295"/>
            </a:solidFill>
            <a:prstDash val="solid"/>
          </a:ln>
        </p:spPr>
        <p:txBody>
          <a:bodyPr/>
          <a:lstStyle/>
          <a:p>
            <a:endParaRPr lang="es-PE" sz="1200"/>
          </a:p>
        </p:txBody>
      </p:sp>
      <p:sp>
        <p:nvSpPr>
          <p:cNvPr id="19" name="Shape 17"/>
          <p:cNvSpPr/>
          <p:nvPr/>
        </p:nvSpPr>
        <p:spPr>
          <a:xfrm>
            <a:off x="6263640" y="1810512"/>
            <a:ext cx="914400" cy="292608"/>
          </a:xfrm>
          <a:prstGeom prst="roundRect">
            <a:avLst>
              <a:gd name="adj" fmla="val 12500"/>
            </a:avLst>
          </a:prstGeom>
          <a:solidFill>
            <a:srgbClr val="A0B4E0"/>
          </a:solidFill>
          <a:ln/>
        </p:spPr>
        <p:txBody>
          <a:bodyPr/>
          <a:lstStyle/>
          <a:p>
            <a:endParaRPr lang="es-PE" sz="1400"/>
          </a:p>
        </p:txBody>
      </p:sp>
      <p:sp>
        <p:nvSpPr>
          <p:cNvPr id="20" name="Text 18"/>
          <p:cNvSpPr/>
          <p:nvPr/>
        </p:nvSpPr>
        <p:spPr>
          <a:xfrm>
            <a:off x="6263640" y="1815084"/>
            <a:ext cx="914400" cy="283464"/>
          </a:xfrm>
          <a:prstGeom prst="rect">
            <a:avLst/>
          </a:prstGeom>
          <a:noFill/>
          <a:ln/>
        </p:spPr>
        <p:txBody>
          <a:bodyPr wrap="square" lIns="0" tIns="0" rIns="0" bIns="0" rtlCol="0" anchor="ctr"/>
          <a:lstStyle/>
          <a:p>
            <a:pPr marL="0" indent="0" algn="ctr">
              <a:buNone/>
            </a:pPr>
            <a:r>
              <a:rPr lang="en-US" sz="1200" b="1" dirty="0">
                <a:solidFill>
                  <a:srgbClr val="121B3A"/>
                </a:solidFill>
                <a:latin typeface="Calibri" pitchFamily="34" charset="0"/>
                <a:ea typeface="Calibri" pitchFamily="34" charset="-122"/>
                <a:cs typeface="Calibri" pitchFamily="34" charset="-120"/>
              </a:rPr>
              <a:t>C1C</a:t>
            </a:r>
            <a:endParaRPr lang="en-US" sz="1200" dirty="0"/>
          </a:p>
        </p:txBody>
      </p:sp>
      <p:sp>
        <p:nvSpPr>
          <p:cNvPr id="21" name="Text 19"/>
          <p:cNvSpPr/>
          <p:nvPr/>
        </p:nvSpPr>
        <p:spPr>
          <a:xfrm>
            <a:off x="6263640" y="2176272"/>
            <a:ext cx="2377440" cy="274320"/>
          </a:xfrm>
          <a:prstGeom prst="rect">
            <a:avLst/>
          </a:prstGeom>
          <a:noFill/>
          <a:ln/>
        </p:spPr>
        <p:txBody>
          <a:bodyPr wrap="square" rtlCol="0" anchor="ctr"/>
          <a:lstStyle/>
          <a:p>
            <a:pPr marL="0" indent="0">
              <a:buNone/>
            </a:pPr>
            <a:r>
              <a:rPr lang="en-US" sz="1600" b="1" dirty="0">
                <a:solidFill>
                  <a:srgbClr val="F5C842"/>
                </a:solidFill>
                <a:latin typeface="Cambria" pitchFamily="34" charset="0"/>
                <a:ea typeface="Cambria" pitchFamily="34" charset="-122"/>
                <a:cs typeface="Cambria" pitchFamily="34" charset="-120"/>
              </a:rPr>
              <a:t>Audiovisual</a:t>
            </a:r>
            <a:endParaRPr lang="en-US" sz="1600" dirty="0"/>
          </a:p>
        </p:txBody>
      </p:sp>
      <p:sp>
        <p:nvSpPr>
          <p:cNvPr id="22" name="Text 20"/>
          <p:cNvSpPr/>
          <p:nvPr/>
        </p:nvSpPr>
        <p:spPr>
          <a:xfrm>
            <a:off x="6263640" y="2487168"/>
            <a:ext cx="2377440" cy="1645920"/>
          </a:xfrm>
          <a:prstGeom prst="rect">
            <a:avLst/>
          </a:prstGeom>
          <a:noFill/>
          <a:ln/>
        </p:spPr>
        <p:txBody>
          <a:bodyPr wrap="square" rtlCol="0" anchor="t"/>
          <a:lstStyle/>
          <a:p>
            <a:pPr marL="0" indent="0">
              <a:buNone/>
            </a:pPr>
            <a:r>
              <a:rPr lang="en-US" sz="1600" dirty="0">
                <a:solidFill>
                  <a:srgbClr val="C0C8E8"/>
                </a:solidFill>
                <a:latin typeface="Calibri" pitchFamily="34" charset="0"/>
                <a:ea typeface="Calibri" pitchFamily="34" charset="-122"/>
                <a:cs typeface="Calibri" pitchFamily="34" charset="-120"/>
              </a:rPr>
              <a:t>Abre el documento de instrucciones de edición desde la carpeta compartida. La IA genera la tabla de producción para ese video.</a:t>
            </a:r>
            <a:endParaRPr lang="en-US" sz="1600" dirty="0"/>
          </a:p>
        </p:txBody>
      </p:sp>
      <p:sp>
        <p:nvSpPr>
          <p:cNvPr id="23" name="Shape 21"/>
          <p:cNvSpPr/>
          <p:nvPr/>
        </p:nvSpPr>
        <p:spPr>
          <a:xfrm>
            <a:off x="457200" y="4572000"/>
            <a:ext cx="8229600" cy="292608"/>
          </a:xfrm>
          <a:prstGeom prst="roundRect">
            <a:avLst>
              <a:gd name="adj" fmla="val 12500"/>
            </a:avLst>
          </a:prstGeom>
          <a:solidFill>
            <a:srgbClr val="1B3A1F"/>
          </a:solidFill>
          <a:ln/>
        </p:spPr>
        <p:txBody>
          <a:bodyPr/>
          <a:lstStyle/>
          <a:p>
            <a:endParaRPr lang="es-PE" sz="1400"/>
          </a:p>
        </p:txBody>
      </p:sp>
      <p:sp>
        <p:nvSpPr>
          <p:cNvPr id="24" name="Text 22"/>
          <p:cNvSpPr/>
          <p:nvPr/>
        </p:nvSpPr>
        <p:spPr>
          <a:xfrm>
            <a:off x="566928" y="4590288"/>
            <a:ext cx="8010144" cy="256032"/>
          </a:xfrm>
          <a:prstGeom prst="rect">
            <a:avLst/>
          </a:prstGeom>
          <a:noFill/>
          <a:ln/>
        </p:spPr>
        <p:txBody>
          <a:bodyPr wrap="square" rtlCol="0" anchor="ctr"/>
          <a:lstStyle/>
          <a:p>
            <a:pPr marL="0" indent="0">
              <a:buNone/>
            </a:pPr>
            <a:r>
              <a:rPr lang="en-US" sz="1200" i="1" dirty="0">
                <a:solidFill>
                  <a:srgbClr val="A8D5A2"/>
                </a:solidFill>
                <a:latin typeface="Calibri" pitchFamily="34" charset="0"/>
                <a:ea typeface="Calibri" pitchFamily="34" charset="-122"/>
                <a:cs typeface="Calibri" pitchFamily="34" charset="-120"/>
              </a:rPr>
              <a:t>Este es el momento equivalente a la lectura del CSV en Grupo A — lo que va a sorprender al equipo creativo.</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201168"/>
          </a:xfrm>
          <a:prstGeom prst="rect">
            <a:avLst/>
          </a:prstGeom>
          <a:noFill/>
          <a:ln/>
        </p:spPr>
        <p:txBody>
          <a:bodyPr wrap="square" rtlCol="0" anchor="ctr"/>
          <a:lstStyle/>
          <a:p>
            <a:pPr marL="0" indent="0">
              <a:buNone/>
            </a:pPr>
            <a:r>
              <a:rPr lang="en-US" sz="900" b="1" kern="0" spc="200" dirty="0">
                <a:solidFill>
                  <a:srgbClr val="F5C842"/>
                </a:solidFill>
                <a:latin typeface="Calibri" pitchFamily="34" charset="0"/>
                <a:ea typeface="Calibri" pitchFamily="34" charset="-122"/>
                <a:cs typeface="Calibri" pitchFamily="34" charset="-120"/>
              </a:rPr>
              <a:t>VITAMINAS TECNOLÓGICAS · CAPACITACIÓN IA</a:t>
            </a:r>
            <a:endParaRPr lang="en-US" sz="900" dirty="0"/>
          </a:p>
        </p:txBody>
      </p:sp>
      <p:sp>
        <p:nvSpPr>
          <p:cNvPr id="3" name="Text 1"/>
          <p:cNvSpPr/>
          <p:nvPr/>
        </p:nvSpPr>
        <p:spPr>
          <a:xfrm>
            <a:off x="6400800" y="4846320"/>
            <a:ext cx="2560320" cy="182880"/>
          </a:xfrm>
          <a:prstGeom prst="rect">
            <a:avLst/>
          </a:prstGeom>
          <a:noFill/>
          <a:ln/>
        </p:spPr>
        <p:txBody>
          <a:bodyPr wrap="square" rtlCol="0" anchor="ctr"/>
          <a:lstStyle/>
          <a:p>
            <a:pPr marL="0" indent="0" algn="r">
              <a:buNone/>
            </a:pPr>
            <a:r>
              <a:rPr lang="en-US" sz="800" dirty="0">
                <a:solidFill>
                  <a:srgbClr val="8899BB"/>
                </a:solidFill>
                <a:latin typeface="Calibri" pitchFamily="34" charset="0"/>
                <a:ea typeface="Calibri" pitchFamily="34" charset="-122"/>
                <a:cs typeface="Calibri" pitchFamily="34" charset="-120"/>
              </a:rPr>
              <a:t>BLOQUE 06</a:t>
            </a:r>
            <a:endParaRPr lang="en-US" sz="800" dirty="0"/>
          </a:p>
        </p:txBody>
      </p:sp>
      <p:sp>
        <p:nvSpPr>
          <p:cNvPr id="4" name="Shape 2"/>
          <p:cNvSpPr/>
          <p:nvPr/>
        </p:nvSpPr>
        <p:spPr>
          <a:xfrm>
            <a:off x="457200" y="411480"/>
            <a:ext cx="822960" cy="256032"/>
          </a:xfrm>
          <a:prstGeom prst="roundRect">
            <a:avLst>
              <a:gd name="adj" fmla="val 14286"/>
            </a:avLst>
          </a:prstGeom>
          <a:solidFill>
            <a:srgbClr val="F5C842"/>
          </a:solidFill>
          <a:ln/>
        </p:spPr>
        <p:txBody>
          <a:bodyPr/>
          <a:lstStyle/>
          <a:p>
            <a:endParaRPr lang="es-PE"/>
          </a:p>
        </p:txBody>
      </p:sp>
      <p:sp>
        <p:nvSpPr>
          <p:cNvPr id="5" name="Text 3"/>
          <p:cNvSpPr/>
          <p:nvPr/>
        </p:nvSpPr>
        <p:spPr>
          <a:xfrm>
            <a:off x="457200" y="420624"/>
            <a:ext cx="822960" cy="237744"/>
          </a:xfrm>
          <a:prstGeom prst="rect">
            <a:avLst/>
          </a:prstGeom>
          <a:noFill/>
          <a:ln/>
        </p:spPr>
        <p:txBody>
          <a:bodyPr wrap="square" lIns="0" tIns="0" rIns="0" bIns="0" rtlCol="0" anchor="ctr"/>
          <a:lstStyle/>
          <a:p>
            <a:pPr marL="0" indent="0" algn="ctr">
              <a:buNone/>
            </a:pPr>
            <a:r>
              <a:rPr lang="en-US" sz="900" b="1" dirty="0">
                <a:solidFill>
                  <a:srgbClr val="121B3A"/>
                </a:solidFill>
                <a:latin typeface="Calibri" pitchFamily="34" charset="0"/>
                <a:ea typeface="Calibri" pitchFamily="34" charset="-122"/>
                <a:cs typeface="Calibri" pitchFamily="34" charset="-120"/>
              </a:rPr>
              <a:t>06 //</a:t>
            </a:r>
            <a:endParaRPr lang="en-US" sz="900" dirty="0"/>
          </a:p>
        </p:txBody>
      </p:sp>
      <p:sp>
        <p:nvSpPr>
          <p:cNvPr id="6" name="Text 4"/>
          <p:cNvSpPr/>
          <p:nvPr/>
        </p:nvSpPr>
        <p:spPr>
          <a:xfrm>
            <a:off x="457200" y="749808"/>
            <a:ext cx="8229600" cy="402336"/>
          </a:xfrm>
          <a:prstGeom prst="rect">
            <a:avLst/>
          </a:prstGeom>
          <a:noFill/>
          <a:ln/>
        </p:spPr>
        <p:txBody>
          <a:bodyPr wrap="square" rtlCol="0" anchor="ctr"/>
          <a:lstStyle/>
          <a:p>
            <a:pPr marL="0" indent="0">
              <a:buNone/>
            </a:pPr>
            <a:r>
              <a:rPr lang="en-US" sz="3200" b="1" dirty="0">
                <a:solidFill>
                  <a:srgbClr val="121B3A"/>
                </a:solidFill>
                <a:latin typeface="Cambria" pitchFamily="34" charset="0"/>
                <a:ea typeface="Cambria" pitchFamily="34" charset="-122"/>
                <a:cs typeface="Cambria" pitchFamily="34" charset="-120"/>
              </a:rPr>
              <a:t>Comparación y edición del output</a:t>
            </a:r>
            <a:endParaRPr lang="en-US" sz="3200" dirty="0"/>
          </a:p>
        </p:txBody>
      </p:sp>
      <p:sp>
        <p:nvSpPr>
          <p:cNvPr id="7" name="Text 5"/>
          <p:cNvSpPr/>
          <p:nvPr/>
        </p:nvSpPr>
        <p:spPr>
          <a:xfrm>
            <a:off x="457200" y="1318322"/>
            <a:ext cx="8229600" cy="237744"/>
          </a:xfrm>
          <a:prstGeom prst="rect">
            <a:avLst/>
          </a:prstGeom>
          <a:noFill/>
          <a:ln/>
        </p:spPr>
        <p:txBody>
          <a:bodyPr wrap="square" rtlCol="0" anchor="ctr"/>
          <a:lstStyle/>
          <a:p>
            <a:pPr marL="0" indent="0">
              <a:buNone/>
            </a:pPr>
            <a:r>
              <a:rPr lang="en-US" sz="1600" dirty="0">
                <a:solidFill>
                  <a:srgbClr val="5A5F73"/>
                </a:solidFill>
                <a:latin typeface="Calibri" pitchFamily="34" charset="0"/>
                <a:ea typeface="Calibri" pitchFamily="34" charset="-122"/>
                <a:cs typeface="Calibri" pitchFamily="34" charset="-120"/>
              </a:rPr>
              <a:t>Ejecutaste el prompt en ChatGPT y en Gemini. Ahora decide cuál editar.</a:t>
            </a:r>
            <a:endParaRPr lang="en-US" sz="1600" dirty="0"/>
          </a:p>
        </p:txBody>
      </p:sp>
      <p:sp>
        <p:nvSpPr>
          <p:cNvPr id="8" name="Shape 6"/>
          <p:cNvSpPr/>
          <p:nvPr/>
        </p:nvSpPr>
        <p:spPr>
          <a:xfrm>
            <a:off x="457200" y="1684082"/>
            <a:ext cx="8229600" cy="475488"/>
          </a:xfrm>
          <a:prstGeom prst="roundRect">
            <a:avLst>
              <a:gd name="adj" fmla="val 7692"/>
            </a:avLst>
          </a:prstGeom>
          <a:solidFill>
            <a:srgbClr val="F7F7F9"/>
          </a:solidFill>
          <a:ln w="12700">
            <a:solidFill>
              <a:srgbClr val="E5E5EA"/>
            </a:solidFill>
            <a:prstDash val="solid"/>
          </a:ln>
        </p:spPr>
        <p:txBody>
          <a:bodyPr/>
          <a:lstStyle/>
          <a:p>
            <a:endParaRPr lang="es-PE" sz="2400"/>
          </a:p>
        </p:txBody>
      </p:sp>
      <p:sp>
        <p:nvSpPr>
          <p:cNvPr id="9" name="Shape 7"/>
          <p:cNvSpPr/>
          <p:nvPr/>
        </p:nvSpPr>
        <p:spPr>
          <a:xfrm>
            <a:off x="621792" y="1775522"/>
            <a:ext cx="292608" cy="292608"/>
          </a:xfrm>
          <a:prstGeom prst="ellipse">
            <a:avLst/>
          </a:prstGeom>
          <a:solidFill>
            <a:srgbClr val="F5C842"/>
          </a:solidFill>
          <a:ln/>
        </p:spPr>
        <p:txBody>
          <a:bodyPr/>
          <a:lstStyle/>
          <a:p>
            <a:endParaRPr lang="es-PE" sz="2400"/>
          </a:p>
        </p:txBody>
      </p:sp>
      <p:sp>
        <p:nvSpPr>
          <p:cNvPr id="10" name="Text 8"/>
          <p:cNvSpPr/>
          <p:nvPr/>
        </p:nvSpPr>
        <p:spPr>
          <a:xfrm>
            <a:off x="621792" y="1775522"/>
            <a:ext cx="292608" cy="292608"/>
          </a:xfrm>
          <a:prstGeom prst="rect">
            <a:avLst/>
          </a:prstGeom>
          <a:noFill/>
          <a:ln/>
        </p:spPr>
        <p:txBody>
          <a:bodyPr wrap="square" lIns="0" tIns="0" rIns="0" bIns="0" rtlCol="0" anchor="ctr"/>
          <a:lstStyle/>
          <a:p>
            <a:pPr marL="0" indent="0" algn="ctr">
              <a:buNone/>
            </a:pPr>
            <a:r>
              <a:rPr lang="en-US" sz="1400" b="1" dirty="0">
                <a:solidFill>
                  <a:srgbClr val="121B3A"/>
                </a:solidFill>
                <a:latin typeface="Calibri" pitchFamily="34" charset="0"/>
                <a:ea typeface="Calibri" pitchFamily="34" charset="-122"/>
                <a:cs typeface="Calibri" pitchFamily="34" charset="-120"/>
              </a:rPr>
              <a:t>✓</a:t>
            </a:r>
            <a:endParaRPr lang="en-US" sz="1400" dirty="0"/>
          </a:p>
        </p:txBody>
      </p:sp>
      <p:sp>
        <p:nvSpPr>
          <p:cNvPr id="11" name="Text 9"/>
          <p:cNvSpPr/>
          <p:nvPr/>
        </p:nvSpPr>
        <p:spPr>
          <a:xfrm>
            <a:off x="1005840" y="1793810"/>
            <a:ext cx="7498080" cy="256032"/>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¿Cuál de los dos outputs suena más natural para el tono de EEA?</a:t>
            </a:r>
            <a:endParaRPr lang="en-US" sz="1600" dirty="0"/>
          </a:p>
        </p:txBody>
      </p:sp>
      <p:sp>
        <p:nvSpPr>
          <p:cNvPr id="12" name="Shape 10"/>
          <p:cNvSpPr/>
          <p:nvPr/>
        </p:nvSpPr>
        <p:spPr>
          <a:xfrm>
            <a:off x="457200" y="2251010"/>
            <a:ext cx="8229600" cy="475488"/>
          </a:xfrm>
          <a:prstGeom prst="roundRect">
            <a:avLst>
              <a:gd name="adj" fmla="val 7692"/>
            </a:avLst>
          </a:prstGeom>
          <a:solidFill>
            <a:srgbClr val="FFFFFF"/>
          </a:solidFill>
          <a:ln w="12700">
            <a:solidFill>
              <a:srgbClr val="E5E5EA"/>
            </a:solidFill>
            <a:prstDash val="solid"/>
          </a:ln>
        </p:spPr>
        <p:txBody>
          <a:bodyPr/>
          <a:lstStyle/>
          <a:p>
            <a:endParaRPr lang="es-PE" sz="2400"/>
          </a:p>
        </p:txBody>
      </p:sp>
      <p:sp>
        <p:nvSpPr>
          <p:cNvPr id="13" name="Shape 11"/>
          <p:cNvSpPr/>
          <p:nvPr/>
        </p:nvSpPr>
        <p:spPr>
          <a:xfrm>
            <a:off x="621792" y="2342450"/>
            <a:ext cx="292608" cy="292608"/>
          </a:xfrm>
          <a:prstGeom prst="ellipse">
            <a:avLst/>
          </a:prstGeom>
          <a:solidFill>
            <a:srgbClr val="F5C842"/>
          </a:solidFill>
          <a:ln/>
        </p:spPr>
        <p:txBody>
          <a:bodyPr/>
          <a:lstStyle/>
          <a:p>
            <a:endParaRPr lang="es-PE" sz="2400"/>
          </a:p>
        </p:txBody>
      </p:sp>
      <p:sp>
        <p:nvSpPr>
          <p:cNvPr id="14" name="Text 12"/>
          <p:cNvSpPr/>
          <p:nvPr/>
        </p:nvSpPr>
        <p:spPr>
          <a:xfrm>
            <a:off x="621792" y="2342450"/>
            <a:ext cx="292608" cy="292608"/>
          </a:xfrm>
          <a:prstGeom prst="rect">
            <a:avLst/>
          </a:prstGeom>
          <a:noFill/>
          <a:ln/>
        </p:spPr>
        <p:txBody>
          <a:bodyPr wrap="square" lIns="0" tIns="0" rIns="0" bIns="0" rtlCol="0" anchor="ctr"/>
          <a:lstStyle/>
          <a:p>
            <a:pPr marL="0" indent="0" algn="ctr">
              <a:buNone/>
            </a:pPr>
            <a:r>
              <a:rPr lang="en-US" sz="1400" b="1" dirty="0">
                <a:solidFill>
                  <a:srgbClr val="121B3A"/>
                </a:solidFill>
                <a:latin typeface="Calibri" pitchFamily="34" charset="0"/>
                <a:ea typeface="Calibri" pitchFamily="34" charset="-122"/>
                <a:cs typeface="Calibri" pitchFamily="34" charset="-120"/>
              </a:rPr>
              <a:t>✓</a:t>
            </a:r>
            <a:endParaRPr lang="en-US" sz="1400" dirty="0"/>
          </a:p>
        </p:txBody>
      </p:sp>
      <p:sp>
        <p:nvSpPr>
          <p:cNvPr id="15" name="Text 13"/>
          <p:cNvSpPr/>
          <p:nvPr/>
        </p:nvSpPr>
        <p:spPr>
          <a:xfrm>
            <a:off x="1005840" y="2360738"/>
            <a:ext cx="7498080" cy="256032"/>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¿El gancho detiene el scroll o es genérico?</a:t>
            </a:r>
            <a:endParaRPr lang="en-US" sz="1600" dirty="0"/>
          </a:p>
        </p:txBody>
      </p:sp>
      <p:sp>
        <p:nvSpPr>
          <p:cNvPr id="16" name="Shape 14"/>
          <p:cNvSpPr/>
          <p:nvPr/>
        </p:nvSpPr>
        <p:spPr>
          <a:xfrm>
            <a:off x="457200" y="2817938"/>
            <a:ext cx="8229600" cy="475488"/>
          </a:xfrm>
          <a:prstGeom prst="roundRect">
            <a:avLst>
              <a:gd name="adj" fmla="val 7692"/>
            </a:avLst>
          </a:prstGeom>
          <a:solidFill>
            <a:srgbClr val="F7F7F9"/>
          </a:solidFill>
          <a:ln w="12700">
            <a:solidFill>
              <a:srgbClr val="E5E5EA"/>
            </a:solidFill>
            <a:prstDash val="solid"/>
          </a:ln>
        </p:spPr>
        <p:txBody>
          <a:bodyPr/>
          <a:lstStyle/>
          <a:p>
            <a:endParaRPr lang="es-PE" sz="2400"/>
          </a:p>
        </p:txBody>
      </p:sp>
      <p:sp>
        <p:nvSpPr>
          <p:cNvPr id="17" name="Shape 15"/>
          <p:cNvSpPr/>
          <p:nvPr/>
        </p:nvSpPr>
        <p:spPr>
          <a:xfrm>
            <a:off x="621792" y="2909378"/>
            <a:ext cx="292608" cy="292608"/>
          </a:xfrm>
          <a:prstGeom prst="ellipse">
            <a:avLst/>
          </a:prstGeom>
          <a:solidFill>
            <a:srgbClr val="F5C842"/>
          </a:solidFill>
          <a:ln/>
        </p:spPr>
        <p:txBody>
          <a:bodyPr/>
          <a:lstStyle/>
          <a:p>
            <a:endParaRPr lang="es-PE" sz="2400"/>
          </a:p>
        </p:txBody>
      </p:sp>
      <p:sp>
        <p:nvSpPr>
          <p:cNvPr id="18" name="Text 16"/>
          <p:cNvSpPr/>
          <p:nvPr/>
        </p:nvSpPr>
        <p:spPr>
          <a:xfrm>
            <a:off x="621792" y="2909378"/>
            <a:ext cx="292608" cy="292608"/>
          </a:xfrm>
          <a:prstGeom prst="rect">
            <a:avLst/>
          </a:prstGeom>
          <a:noFill/>
          <a:ln/>
        </p:spPr>
        <p:txBody>
          <a:bodyPr wrap="square" lIns="0" tIns="0" rIns="0" bIns="0" rtlCol="0" anchor="ctr"/>
          <a:lstStyle/>
          <a:p>
            <a:pPr marL="0" indent="0" algn="ctr">
              <a:buNone/>
            </a:pPr>
            <a:r>
              <a:rPr lang="en-US" sz="1400" b="1" dirty="0">
                <a:solidFill>
                  <a:srgbClr val="121B3A"/>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1005840" y="2927666"/>
            <a:ext cx="7498080" cy="256032"/>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¿El CTA está al final y es directo, o está enterrado en el texto?</a:t>
            </a:r>
            <a:endParaRPr lang="en-US" sz="1600" dirty="0"/>
          </a:p>
        </p:txBody>
      </p:sp>
      <p:sp>
        <p:nvSpPr>
          <p:cNvPr id="20" name="Shape 18"/>
          <p:cNvSpPr/>
          <p:nvPr/>
        </p:nvSpPr>
        <p:spPr>
          <a:xfrm>
            <a:off x="457200" y="3384866"/>
            <a:ext cx="8229600" cy="475488"/>
          </a:xfrm>
          <a:prstGeom prst="roundRect">
            <a:avLst>
              <a:gd name="adj" fmla="val 7692"/>
            </a:avLst>
          </a:prstGeom>
          <a:solidFill>
            <a:srgbClr val="FFFFFF"/>
          </a:solidFill>
          <a:ln w="12700">
            <a:solidFill>
              <a:srgbClr val="E5E5EA"/>
            </a:solidFill>
            <a:prstDash val="solid"/>
          </a:ln>
        </p:spPr>
        <p:txBody>
          <a:bodyPr/>
          <a:lstStyle/>
          <a:p>
            <a:endParaRPr lang="es-PE" sz="2400"/>
          </a:p>
        </p:txBody>
      </p:sp>
      <p:sp>
        <p:nvSpPr>
          <p:cNvPr id="21" name="Shape 19"/>
          <p:cNvSpPr/>
          <p:nvPr/>
        </p:nvSpPr>
        <p:spPr>
          <a:xfrm>
            <a:off x="621792" y="3476306"/>
            <a:ext cx="292608" cy="292608"/>
          </a:xfrm>
          <a:prstGeom prst="ellipse">
            <a:avLst/>
          </a:prstGeom>
          <a:solidFill>
            <a:srgbClr val="F5C842"/>
          </a:solidFill>
          <a:ln/>
        </p:spPr>
        <p:txBody>
          <a:bodyPr/>
          <a:lstStyle/>
          <a:p>
            <a:endParaRPr lang="es-PE" sz="2400"/>
          </a:p>
        </p:txBody>
      </p:sp>
      <p:sp>
        <p:nvSpPr>
          <p:cNvPr id="22" name="Text 20"/>
          <p:cNvSpPr/>
          <p:nvPr/>
        </p:nvSpPr>
        <p:spPr>
          <a:xfrm>
            <a:off x="621792" y="3476306"/>
            <a:ext cx="292608" cy="292608"/>
          </a:xfrm>
          <a:prstGeom prst="rect">
            <a:avLst/>
          </a:prstGeom>
          <a:noFill/>
          <a:ln/>
        </p:spPr>
        <p:txBody>
          <a:bodyPr wrap="square" lIns="0" tIns="0" rIns="0" bIns="0" rtlCol="0" anchor="ctr"/>
          <a:lstStyle/>
          <a:p>
            <a:pPr marL="0" indent="0" algn="ctr">
              <a:buNone/>
            </a:pPr>
            <a:r>
              <a:rPr lang="en-US" sz="1400" b="1" dirty="0">
                <a:solidFill>
                  <a:srgbClr val="121B3A"/>
                </a:solidFill>
                <a:latin typeface="Calibri" pitchFamily="34" charset="0"/>
                <a:ea typeface="Calibri" pitchFamily="34" charset="-122"/>
                <a:cs typeface="Calibri" pitchFamily="34" charset="-120"/>
              </a:rPr>
              <a:t>✓</a:t>
            </a:r>
            <a:endParaRPr lang="en-US" sz="1400" dirty="0"/>
          </a:p>
        </p:txBody>
      </p:sp>
      <p:sp>
        <p:nvSpPr>
          <p:cNvPr id="23" name="Text 21"/>
          <p:cNvSpPr/>
          <p:nvPr/>
        </p:nvSpPr>
        <p:spPr>
          <a:xfrm>
            <a:off x="1005840" y="3494594"/>
            <a:ext cx="7498080" cy="256032"/>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¿Qué cambiarías antes de publicarlo o subirlo a Ads Manager?</a:t>
            </a:r>
            <a:endParaRPr lang="en-US" sz="1600" dirty="0"/>
          </a:p>
        </p:txBody>
      </p:sp>
      <p:sp>
        <p:nvSpPr>
          <p:cNvPr id="24" name="Text 22"/>
          <p:cNvSpPr/>
          <p:nvPr/>
        </p:nvSpPr>
        <p:spPr>
          <a:xfrm>
            <a:off x="457200" y="4024946"/>
            <a:ext cx="8229600" cy="475488"/>
          </a:xfrm>
          <a:prstGeom prst="rect">
            <a:avLst/>
          </a:prstGeom>
          <a:noFill/>
          <a:ln/>
        </p:spPr>
        <p:txBody>
          <a:bodyPr wrap="square" rtlCol="0" anchor="ctr"/>
          <a:lstStyle/>
          <a:p>
            <a:pPr marL="0" indent="0">
              <a:buNone/>
            </a:pPr>
            <a:r>
              <a:rPr lang="en-US" sz="1400" i="1" dirty="0">
                <a:solidFill>
                  <a:srgbClr val="121B3A"/>
                </a:solidFill>
                <a:latin typeface="Calibri" pitchFamily="34" charset="0"/>
                <a:ea typeface="Calibri" pitchFamily="34" charset="-122"/>
                <a:cs typeface="Calibri" pitchFamily="34" charset="-120"/>
              </a:rPr>
              <a:t>Edita el output elegido con una instrucción puntual. Ejemplo: «Reescribe solo el gancho, que empiece con una pregunta»</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1B3A"/>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201168"/>
          </a:xfrm>
          <a:prstGeom prst="rect">
            <a:avLst/>
          </a:prstGeom>
          <a:noFill/>
          <a:ln/>
        </p:spPr>
        <p:txBody>
          <a:bodyPr wrap="square" rtlCol="0" anchor="ctr"/>
          <a:lstStyle/>
          <a:p>
            <a:pPr marL="0" indent="0">
              <a:buNone/>
            </a:pPr>
            <a:r>
              <a:rPr lang="en-US" sz="1000" b="1" kern="0" spc="200" dirty="0">
                <a:solidFill>
                  <a:srgbClr val="F5C842"/>
                </a:solidFill>
                <a:latin typeface="Calibri" pitchFamily="34" charset="0"/>
                <a:ea typeface="Calibri" pitchFamily="34" charset="-122"/>
                <a:cs typeface="Calibri" pitchFamily="34" charset="-120"/>
              </a:rPr>
              <a:t>VITAMINAS TECNOLÓGICAS · CAPACITACIÓN IA</a:t>
            </a:r>
            <a:endParaRPr lang="en-US" sz="1000" dirty="0"/>
          </a:p>
        </p:txBody>
      </p:sp>
      <p:sp>
        <p:nvSpPr>
          <p:cNvPr id="3" name="Text 1"/>
          <p:cNvSpPr/>
          <p:nvPr/>
        </p:nvSpPr>
        <p:spPr>
          <a:xfrm>
            <a:off x="6400800" y="4846320"/>
            <a:ext cx="2560320" cy="182880"/>
          </a:xfrm>
          <a:prstGeom prst="rect">
            <a:avLst/>
          </a:prstGeom>
          <a:noFill/>
          <a:ln/>
        </p:spPr>
        <p:txBody>
          <a:bodyPr wrap="square" rtlCol="0" anchor="ctr"/>
          <a:lstStyle/>
          <a:p>
            <a:pPr marL="0" indent="0" algn="r">
              <a:buNone/>
            </a:pPr>
            <a:r>
              <a:rPr lang="en-US" sz="800" dirty="0">
                <a:solidFill>
                  <a:srgbClr val="8899BB"/>
                </a:solidFill>
                <a:latin typeface="Calibri" pitchFamily="34" charset="0"/>
                <a:ea typeface="Calibri" pitchFamily="34" charset="-122"/>
                <a:cs typeface="Calibri" pitchFamily="34" charset="-120"/>
              </a:rPr>
              <a:t>BLOQUE 07 · CIERRE</a:t>
            </a:r>
            <a:endParaRPr lang="en-US" sz="800" dirty="0"/>
          </a:p>
        </p:txBody>
      </p:sp>
      <p:sp>
        <p:nvSpPr>
          <p:cNvPr id="4" name="Shape 2"/>
          <p:cNvSpPr/>
          <p:nvPr/>
        </p:nvSpPr>
        <p:spPr>
          <a:xfrm>
            <a:off x="457200" y="411480"/>
            <a:ext cx="822960" cy="256032"/>
          </a:xfrm>
          <a:prstGeom prst="roundRect">
            <a:avLst>
              <a:gd name="adj" fmla="val 14286"/>
            </a:avLst>
          </a:prstGeom>
          <a:solidFill>
            <a:srgbClr val="F5C842"/>
          </a:solidFill>
          <a:ln/>
        </p:spPr>
        <p:txBody>
          <a:bodyPr/>
          <a:lstStyle/>
          <a:p>
            <a:endParaRPr lang="es-PE" sz="2000"/>
          </a:p>
        </p:txBody>
      </p:sp>
      <p:sp>
        <p:nvSpPr>
          <p:cNvPr id="5" name="Text 3"/>
          <p:cNvSpPr/>
          <p:nvPr/>
        </p:nvSpPr>
        <p:spPr>
          <a:xfrm>
            <a:off x="457200" y="420624"/>
            <a:ext cx="822960" cy="237744"/>
          </a:xfrm>
          <a:prstGeom prst="rect">
            <a:avLst/>
          </a:prstGeom>
          <a:noFill/>
          <a:ln/>
        </p:spPr>
        <p:txBody>
          <a:bodyPr wrap="square" lIns="0" tIns="0" rIns="0" bIns="0" rtlCol="0" anchor="ctr"/>
          <a:lstStyle/>
          <a:p>
            <a:pPr marL="0" indent="0" algn="ctr">
              <a:buNone/>
            </a:pPr>
            <a:r>
              <a:rPr lang="en-US" sz="1000" b="1" dirty="0">
                <a:solidFill>
                  <a:srgbClr val="121B3A"/>
                </a:solidFill>
                <a:latin typeface="Calibri" pitchFamily="34" charset="0"/>
                <a:ea typeface="Calibri" pitchFamily="34" charset="-122"/>
                <a:cs typeface="Calibri" pitchFamily="34" charset="-120"/>
              </a:rPr>
              <a:t>07 //</a:t>
            </a:r>
            <a:endParaRPr lang="en-US" sz="1000" dirty="0"/>
          </a:p>
        </p:txBody>
      </p:sp>
      <p:sp>
        <p:nvSpPr>
          <p:cNvPr id="6" name="Text 4"/>
          <p:cNvSpPr/>
          <p:nvPr/>
        </p:nvSpPr>
        <p:spPr>
          <a:xfrm>
            <a:off x="457200" y="749808"/>
            <a:ext cx="8229600" cy="438912"/>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Cierre y compromiso</a:t>
            </a:r>
            <a:endParaRPr lang="en-US" sz="3200" dirty="0"/>
          </a:p>
        </p:txBody>
      </p:sp>
      <p:sp>
        <p:nvSpPr>
          <p:cNvPr id="7" name="Text 5"/>
          <p:cNvSpPr/>
          <p:nvPr/>
        </p:nvSpPr>
        <p:spPr>
          <a:xfrm>
            <a:off x="457200" y="1317529"/>
            <a:ext cx="8229600" cy="256032"/>
          </a:xfrm>
          <a:prstGeom prst="rect">
            <a:avLst/>
          </a:prstGeom>
          <a:noFill/>
          <a:ln/>
        </p:spPr>
        <p:txBody>
          <a:bodyPr wrap="square" rtlCol="0" anchor="ctr"/>
          <a:lstStyle/>
          <a:p>
            <a:pPr marL="0" indent="0">
              <a:buNone/>
            </a:pPr>
            <a:r>
              <a:rPr lang="en-US" dirty="0">
                <a:solidFill>
                  <a:srgbClr val="F5C842"/>
                </a:solidFill>
                <a:latin typeface="Calibri" pitchFamily="34" charset="0"/>
                <a:ea typeface="Calibri" pitchFamily="34" charset="-122"/>
                <a:cs typeface="Calibri" pitchFamily="34" charset="-120"/>
              </a:rPr>
              <a:t>Cada participante declara en voz alta antes de salir</a:t>
            </a:r>
            <a:endParaRPr lang="en-US" dirty="0"/>
          </a:p>
        </p:txBody>
      </p:sp>
      <p:sp>
        <p:nvSpPr>
          <p:cNvPr id="8" name="Shape 6"/>
          <p:cNvSpPr/>
          <p:nvPr/>
        </p:nvSpPr>
        <p:spPr>
          <a:xfrm>
            <a:off x="457200" y="1719865"/>
            <a:ext cx="8229600" cy="694944"/>
          </a:xfrm>
          <a:prstGeom prst="roundRect">
            <a:avLst>
              <a:gd name="adj" fmla="val 7895"/>
            </a:avLst>
          </a:prstGeom>
          <a:solidFill>
            <a:srgbClr val="1E2D6B"/>
          </a:solidFill>
          <a:ln w="12700">
            <a:solidFill>
              <a:srgbClr val="3A5295"/>
            </a:solidFill>
            <a:prstDash val="solid"/>
          </a:ln>
        </p:spPr>
        <p:txBody>
          <a:bodyPr/>
          <a:lstStyle/>
          <a:p>
            <a:endParaRPr lang="es-PE" sz="2400"/>
          </a:p>
        </p:txBody>
      </p:sp>
      <p:sp>
        <p:nvSpPr>
          <p:cNvPr id="9" name="Text 7"/>
          <p:cNvSpPr/>
          <p:nvPr/>
        </p:nvSpPr>
        <p:spPr>
          <a:xfrm>
            <a:off x="640080" y="1811305"/>
            <a:ext cx="7863840" cy="256032"/>
          </a:xfrm>
          <a:prstGeom prst="rect">
            <a:avLst/>
          </a:prstGeom>
          <a:noFill/>
          <a:ln/>
        </p:spPr>
        <p:txBody>
          <a:bodyPr wrap="square" rtlCol="0" anchor="ctr"/>
          <a:lstStyle/>
          <a:p>
            <a:pPr marL="0" indent="0">
              <a:buNone/>
            </a:pPr>
            <a:r>
              <a:rPr lang="en-US" sz="1600" b="1" dirty="0">
                <a:solidFill>
                  <a:srgbClr val="F5C842"/>
                </a:solidFill>
                <a:latin typeface="Calibri" pitchFamily="34" charset="0"/>
                <a:ea typeface="Calibri" pitchFamily="34" charset="-122"/>
                <a:cs typeface="Calibri" pitchFamily="34" charset="-120"/>
              </a:rPr>
              <a:t>1.  Esta semana voy a usar IA para...</a:t>
            </a:r>
            <a:endParaRPr lang="en-US" sz="1600" dirty="0"/>
          </a:p>
        </p:txBody>
      </p:sp>
      <p:sp>
        <p:nvSpPr>
          <p:cNvPr id="10" name="Text 8"/>
          <p:cNvSpPr/>
          <p:nvPr/>
        </p:nvSpPr>
        <p:spPr>
          <a:xfrm>
            <a:off x="640080" y="2085625"/>
            <a:ext cx="7863840" cy="219456"/>
          </a:xfrm>
          <a:prstGeom prst="rect">
            <a:avLst/>
          </a:prstGeom>
          <a:noFill/>
          <a:ln/>
        </p:spPr>
        <p:txBody>
          <a:bodyPr wrap="square" rtlCol="0" anchor="ctr"/>
          <a:lstStyle/>
          <a:p>
            <a:pPr marL="0" indent="0">
              <a:buNone/>
            </a:pPr>
            <a:r>
              <a:rPr lang="en-US" sz="1400" dirty="0">
                <a:solidFill>
                  <a:srgbClr val="A0AACC"/>
                </a:solidFill>
                <a:latin typeface="Calibri" pitchFamily="34" charset="0"/>
                <a:ea typeface="Calibri" pitchFamily="34" charset="-122"/>
                <a:cs typeface="Calibri" pitchFamily="34" charset="-120"/>
              </a:rPr>
              <a:t>Nombra una tarea concreta de tráfico o contenido</a:t>
            </a:r>
            <a:endParaRPr lang="en-US" sz="1400" dirty="0"/>
          </a:p>
        </p:txBody>
      </p:sp>
      <p:sp>
        <p:nvSpPr>
          <p:cNvPr id="11" name="Shape 9"/>
          <p:cNvSpPr/>
          <p:nvPr/>
        </p:nvSpPr>
        <p:spPr>
          <a:xfrm>
            <a:off x="457200" y="2558727"/>
            <a:ext cx="8229600" cy="694944"/>
          </a:xfrm>
          <a:prstGeom prst="roundRect">
            <a:avLst>
              <a:gd name="adj" fmla="val 7895"/>
            </a:avLst>
          </a:prstGeom>
          <a:solidFill>
            <a:srgbClr val="1E2D6B"/>
          </a:solidFill>
          <a:ln w="12700">
            <a:solidFill>
              <a:srgbClr val="3A5295"/>
            </a:solidFill>
            <a:prstDash val="solid"/>
          </a:ln>
        </p:spPr>
        <p:txBody>
          <a:bodyPr/>
          <a:lstStyle/>
          <a:p>
            <a:endParaRPr lang="es-PE" sz="2400"/>
          </a:p>
        </p:txBody>
      </p:sp>
      <p:sp>
        <p:nvSpPr>
          <p:cNvPr id="12" name="Text 10"/>
          <p:cNvSpPr/>
          <p:nvPr/>
        </p:nvSpPr>
        <p:spPr>
          <a:xfrm>
            <a:off x="640080" y="2650167"/>
            <a:ext cx="7863840" cy="256032"/>
          </a:xfrm>
          <a:prstGeom prst="rect">
            <a:avLst/>
          </a:prstGeom>
          <a:noFill/>
          <a:ln/>
        </p:spPr>
        <p:txBody>
          <a:bodyPr wrap="square" rtlCol="0" anchor="ctr"/>
          <a:lstStyle/>
          <a:p>
            <a:pPr marL="0" indent="0">
              <a:buNone/>
            </a:pPr>
            <a:r>
              <a:rPr lang="en-US" sz="1600" b="1" dirty="0">
                <a:solidFill>
                  <a:srgbClr val="F5C842"/>
                </a:solidFill>
                <a:latin typeface="Calibri" pitchFamily="34" charset="0"/>
                <a:ea typeface="Calibri" pitchFamily="34" charset="-122"/>
                <a:cs typeface="Calibri" pitchFamily="34" charset="-120"/>
              </a:rPr>
              <a:t>2.  El archivo de Drive que voy a conectar es...</a:t>
            </a:r>
            <a:endParaRPr lang="en-US" sz="1600" dirty="0"/>
          </a:p>
        </p:txBody>
      </p:sp>
      <p:sp>
        <p:nvSpPr>
          <p:cNvPr id="13" name="Text 11"/>
          <p:cNvSpPr/>
          <p:nvPr/>
        </p:nvSpPr>
        <p:spPr>
          <a:xfrm>
            <a:off x="640080" y="2924487"/>
            <a:ext cx="7863840" cy="219456"/>
          </a:xfrm>
          <a:prstGeom prst="rect">
            <a:avLst/>
          </a:prstGeom>
          <a:noFill/>
          <a:ln/>
        </p:spPr>
        <p:txBody>
          <a:bodyPr wrap="square" rtlCol="0" anchor="ctr"/>
          <a:lstStyle/>
          <a:p>
            <a:pPr marL="0" indent="0">
              <a:buNone/>
            </a:pPr>
            <a:r>
              <a:rPr lang="en-US" sz="1400" dirty="0">
                <a:solidFill>
                  <a:srgbClr val="A0AACC"/>
                </a:solidFill>
                <a:latin typeface="Calibri" pitchFamily="34" charset="0"/>
                <a:ea typeface="Calibri" pitchFamily="34" charset="-122"/>
                <a:cs typeface="Calibri" pitchFamily="34" charset="-120"/>
              </a:rPr>
              <a:t>Un documento real que ya tienes en tu carpeta</a:t>
            </a:r>
            <a:endParaRPr lang="en-US" sz="1400" dirty="0"/>
          </a:p>
        </p:txBody>
      </p:sp>
      <p:sp>
        <p:nvSpPr>
          <p:cNvPr id="14" name="Shape 12"/>
          <p:cNvSpPr/>
          <p:nvPr/>
        </p:nvSpPr>
        <p:spPr>
          <a:xfrm>
            <a:off x="457200" y="3413491"/>
            <a:ext cx="8229600" cy="694944"/>
          </a:xfrm>
          <a:prstGeom prst="roundRect">
            <a:avLst>
              <a:gd name="adj" fmla="val 7895"/>
            </a:avLst>
          </a:prstGeom>
          <a:solidFill>
            <a:srgbClr val="1E2D6B"/>
          </a:solidFill>
          <a:ln w="12700">
            <a:solidFill>
              <a:srgbClr val="3A5295"/>
            </a:solidFill>
            <a:prstDash val="solid"/>
          </a:ln>
        </p:spPr>
        <p:txBody>
          <a:bodyPr/>
          <a:lstStyle/>
          <a:p>
            <a:endParaRPr lang="es-PE" sz="2400"/>
          </a:p>
        </p:txBody>
      </p:sp>
      <p:sp>
        <p:nvSpPr>
          <p:cNvPr id="15" name="Text 13"/>
          <p:cNvSpPr/>
          <p:nvPr/>
        </p:nvSpPr>
        <p:spPr>
          <a:xfrm>
            <a:off x="640080" y="3504931"/>
            <a:ext cx="7863840" cy="256032"/>
          </a:xfrm>
          <a:prstGeom prst="rect">
            <a:avLst/>
          </a:prstGeom>
          <a:noFill/>
          <a:ln/>
        </p:spPr>
        <p:txBody>
          <a:bodyPr wrap="square" rtlCol="0" anchor="ctr"/>
          <a:lstStyle/>
          <a:p>
            <a:pPr marL="0" indent="0">
              <a:buNone/>
            </a:pPr>
            <a:r>
              <a:rPr lang="en-US" sz="1600" b="1" dirty="0">
                <a:solidFill>
                  <a:srgbClr val="F5C842"/>
                </a:solidFill>
                <a:latin typeface="Calibri" pitchFamily="34" charset="0"/>
                <a:ea typeface="Calibri" pitchFamily="34" charset="-122"/>
                <a:cs typeface="Calibri" pitchFamily="34" charset="-120"/>
              </a:rPr>
              <a:t>3.  Lo que voy a ajustar del prompt es...</a:t>
            </a:r>
            <a:endParaRPr lang="en-US" sz="1600" dirty="0"/>
          </a:p>
        </p:txBody>
      </p:sp>
      <p:sp>
        <p:nvSpPr>
          <p:cNvPr id="16" name="Text 14"/>
          <p:cNvSpPr/>
          <p:nvPr/>
        </p:nvSpPr>
        <p:spPr>
          <a:xfrm>
            <a:off x="640080" y="3779251"/>
            <a:ext cx="7863840" cy="219456"/>
          </a:xfrm>
          <a:prstGeom prst="rect">
            <a:avLst/>
          </a:prstGeom>
          <a:noFill/>
          <a:ln/>
        </p:spPr>
        <p:txBody>
          <a:bodyPr wrap="square" rtlCol="0" anchor="ctr"/>
          <a:lstStyle/>
          <a:p>
            <a:pPr marL="0" indent="0">
              <a:buNone/>
            </a:pPr>
            <a:r>
              <a:rPr lang="en-US" sz="1400" dirty="0">
                <a:solidFill>
                  <a:srgbClr val="A0AACC"/>
                </a:solidFill>
                <a:latin typeface="Calibri" pitchFamily="34" charset="0"/>
                <a:ea typeface="Calibri" pitchFamily="34" charset="-122"/>
                <a:cs typeface="Calibri" pitchFamily="34" charset="-120"/>
              </a:rPr>
              <a:t>Un cambio específico al prompt de práctica</a:t>
            </a:r>
            <a:endParaRPr lang="en-US" sz="1400" dirty="0"/>
          </a:p>
        </p:txBody>
      </p:sp>
      <p:sp>
        <p:nvSpPr>
          <p:cNvPr id="17" name="Text 15"/>
          <p:cNvSpPr/>
          <p:nvPr/>
        </p:nvSpPr>
        <p:spPr>
          <a:xfrm>
            <a:off x="457200" y="4681728"/>
            <a:ext cx="8229600" cy="219456"/>
          </a:xfrm>
          <a:prstGeom prst="rect">
            <a:avLst/>
          </a:prstGeom>
          <a:noFill/>
          <a:ln/>
        </p:spPr>
        <p:txBody>
          <a:bodyPr wrap="square" rtlCol="0" anchor="ctr"/>
          <a:lstStyle/>
          <a:p>
            <a:pPr marL="0" indent="0" algn="ctr">
              <a:buNone/>
            </a:pPr>
            <a:r>
              <a:rPr lang="en-US" sz="1200" dirty="0">
                <a:solidFill>
                  <a:srgbClr val="6A78A8"/>
                </a:solidFill>
                <a:latin typeface="Calibri" pitchFamily="34" charset="0"/>
                <a:ea typeface="Calibri" pitchFamily="34" charset="-122"/>
                <a:cs typeface="Calibri" pitchFamily="34" charset="-120"/>
              </a:rPr>
              <a:t>Kahoot de cierre  ·  PIN: 01004434  ·  </a:t>
            </a:r>
            <a:r>
              <a:rPr lang="en-US" sz="1400" dirty="0">
                <a:solidFill>
                  <a:srgbClr val="6A78A8"/>
                </a:solidFill>
                <a:latin typeface="Calibri" pitchFamily="34" charset="0"/>
                <a:ea typeface="Calibri" pitchFamily="34" charset="-122"/>
                <a:cs typeface="Calibri" pitchFamily="34" charset="-120"/>
              </a:rPr>
              <a:t>kahoot</a:t>
            </a:r>
            <a:r>
              <a:rPr lang="en-US" sz="1200" dirty="0">
                <a:solidFill>
                  <a:srgbClr val="6A78A8"/>
                </a:solidFill>
                <a:latin typeface="Calibri" pitchFamily="34" charset="0"/>
                <a:ea typeface="Calibri" pitchFamily="34" charset="-122"/>
                <a:cs typeface="Calibri" pitchFamily="34" charset="-120"/>
              </a:rPr>
              <a:t>.it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2643</Words>
  <Application>Microsoft Macintosh PowerPoint</Application>
  <PresentationFormat>Presentación en pantalla (16:9)</PresentationFormat>
  <Paragraphs>237</Paragraphs>
  <Slides>14</Slides>
  <Notes>14</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PPT-EEA-SesionC1-2026 · IA para Creación de Contenido</dc:title>
  <dc:subject>PptxGenJS Presentation</dc:subject>
  <dc:creator>Liliana Bayona Castañeda — Vitaminas Tecnológicas</dc:creator>
  <cp:lastModifiedBy>Liliana Bayona</cp:lastModifiedBy>
  <cp:revision>5</cp:revision>
  <dcterms:created xsi:type="dcterms:W3CDTF">2026-06-20T11:33:55Z</dcterms:created>
  <dcterms:modified xsi:type="dcterms:W3CDTF">2026-06-20T12:02:29Z</dcterms:modified>
</cp:coreProperties>
</file>